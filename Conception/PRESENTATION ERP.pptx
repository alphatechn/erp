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79" r:id="rId4"/>
    <p:sldId id="280" r:id="rId5"/>
    <p:sldId id="283" r:id="rId6"/>
    <p:sldId id="266" r:id="rId7"/>
    <p:sldId id="284" r:id="rId8"/>
    <p:sldId id="285" r:id="rId9"/>
    <p:sldId id="286" r:id="rId10"/>
    <p:sldId id="287" r:id="rId11"/>
    <p:sldId id="289" r:id="rId12"/>
    <p:sldId id="288" r:id="rId13"/>
    <p:sldId id="281" r:id="rId14"/>
    <p:sldId id="263" r:id="rId15"/>
    <p:sldId id="290" r:id="rId16"/>
    <p:sldId id="291" r:id="rId17"/>
    <p:sldId id="274" r:id="rId18"/>
  </p:sldIdLst>
  <p:sldSz cx="9144000" cy="5143500" type="screen16x9"/>
  <p:notesSz cx="6858000" cy="9144000"/>
  <p:embeddedFontLst>
    <p:embeddedFont>
      <p:font typeface="Platypi Medium" panose="020B0604020202020204" charset="0"/>
      <p:regular r:id="rId21"/>
    </p:embeddedFont>
    <p:embeddedFont>
      <p:font typeface="Gudea" panose="020B0604020202020204" charset="0"/>
      <p:regular r:id="rId22"/>
      <p:bold r:id="rId23"/>
      <p:italic r:id="rId24"/>
    </p:embeddedFont>
    <p:embeddedFont>
      <p:font typeface="Halant Medium" panose="020B0604020202020204" charset="0"/>
      <p:regular r:id="rId25"/>
      <p:bold r:id="rId26"/>
    </p:embeddedFont>
    <p:embeddedFont>
      <p:font typeface="Halant SemiBold" panose="020B0604020202020204" charset="0"/>
      <p:regular r:id="rId27"/>
      <p:bold r:id="rId28"/>
    </p:embeddedFont>
    <p:embeddedFont>
      <p:font typeface="Raleway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CC0"/>
    <a:srgbClr val="FCC52A"/>
    <a:srgbClr val="EA6A1F"/>
    <a:srgbClr val="FCB319"/>
    <a:srgbClr val="C03995"/>
    <a:srgbClr val="891313"/>
    <a:srgbClr val="B5D8CD"/>
    <a:srgbClr val="D8E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76F517-DD63-4AC9-8623-2DE87BC0A1ED}">
  <a:tblStyle styleId="{7276F517-DD63-4AC9-8623-2DE87BC0A1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3103" autoAdjust="0"/>
  </p:normalViewPr>
  <p:slideViewPr>
    <p:cSldViewPr snapToGrid="0">
      <p:cViewPr varScale="1">
        <p:scale>
          <a:sx n="120" d="100"/>
          <a:sy n="120" d="100"/>
        </p:scale>
        <p:origin x="48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ABC6F-191C-4876-829E-7C316D01449E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smtClean="0"/>
              <a:t>Rédigé et présenté par :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23B86-370F-4296-A58B-5168577AEC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61121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765167"/>
      </p:ext>
    </p:extLst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367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256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088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1e375b9f5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1e375b9f5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Il montre les fonctionnalités principales du système vues par les utilisateurs (acteurs) externes. Il permet d’identifier </a:t>
            </a:r>
            <a:r>
              <a:rPr lang="fr-CM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qui fait quoi</a:t>
            </a: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dans le système.</a:t>
            </a: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3156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1e375b9f5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1e375b9f5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Il décrit les </a:t>
            </a:r>
            <a:r>
              <a:rPr lang="fr-CM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processus métier ou flux de travail</a:t>
            </a: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comme un algorithme.</a:t>
            </a: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4782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Il décrit la </a:t>
            </a:r>
            <a:r>
              <a:rPr lang="fr-CM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structure statique</a:t>
            </a: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 système : les classes, leurs attributs, méthodes, et les relations entre elles.</a:t>
            </a:r>
            <a:b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405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853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8445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Il montre </a:t>
            </a:r>
            <a:r>
              <a:rPr lang="fr-CM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comment les objets interagissent dans le temps</a:t>
            </a: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pour accomplir une tâche.</a:t>
            </a: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500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Il montre les </a:t>
            </a:r>
            <a:r>
              <a:rPr lang="fr-CM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états successifs d’un objet</a:t>
            </a: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en fonction des événements.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0902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Il montre comment le logiciel est </a:t>
            </a:r>
            <a:r>
              <a:rPr lang="fr-CM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structuré en modules ou composants</a:t>
            </a: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(fichiers, bibliothèques, services...) et leurs dépendances.</a:t>
            </a: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fr-FR" dirty="0" smtClean="0"/>
              <a:t>Cette architecture Django suit le pattern </a:t>
            </a:r>
            <a:r>
              <a:rPr lang="fr-FR" b="1" dirty="0" smtClean="0"/>
              <a:t>MVT (Model-</a:t>
            </a:r>
            <a:r>
              <a:rPr lang="fr-FR" b="1" dirty="0" err="1" smtClean="0"/>
              <a:t>View</a:t>
            </a:r>
            <a:r>
              <a:rPr lang="fr-FR" b="1" dirty="0" smtClean="0"/>
              <a:t>-Template)</a:t>
            </a:r>
            <a:r>
              <a:rPr lang="fr-FR" dirty="0" smtClean="0"/>
              <a:t> et se compose de </a:t>
            </a:r>
            <a:r>
              <a:rPr lang="fr-FR" b="1" dirty="0" smtClean="0"/>
              <a:t>4 couches principales</a:t>
            </a:r>
            <a:r>
              <a:rPr lang="fr-FR" dirty="0" smtClean="0"/>
              <a:t> :</a:t>
            </a:r>
          </a:p>
          <a:p>
            <a:r>
              <a:rPr lang="fr-FR" b="1" dirty="0" smtClean="0"/>
              <a:t>🎨 Couche Interface (</a:t>
            </a:r>
            <a:r>
              <a:rPr lang="fr-FR" b="1" dirty="0" err="1" smtClean="0"/>
              <a:t>IWebInterface</a:t>
            </a:r>
            <a:r>
              <a:rPr lang="fr-FR" b="1" dirty="0" smtClean="0"/>
              <a:t>)</a:t>
            </a:r>
          </a:p>
          <a:p>
            <a:r>
              <a:rPr lang="fr-FR" b="1" dirty="0" smtClean="0"/>
              <a:t>Rôle</a:t>
            </a:r>
            <a:r>
              <a:rPr lang="fr-FR" dirty="0" smtClean="0"/>
              <a:t> : Gestion de l'interface utilisateur</a:t>
            </a:r>
          </a:p>
          <a:p>
            <a:r>
              <a:rPr lang="fr-FR" b="1" dirty="0" smtClean="0"/>
              <a:t>Composants</a:t>
            </a:r>
            <a:r>
              <a:rPr lang="fr-FR" dirty="0" smtClean="0"/>
              <a:t> : </a:t>
            </a:r>
          </a:p>
          <a:p>
            <a:pPr lvl="1"/>
            <a:r>
              <a:rPr lang="fr-FR" b="1" dirty="0" smtClean="0"/>
              <a:t>Scripts JS</a:t>
            </a:r>
            <a:r>
              <a:rPr lang="fr-FR" dirty="0" smtClean="0"/>
              <a:t> : Interactions côté client (JavaScript)</a:t>
            </a:r>
          </a:p>
          <a:p>
            <a:pPr lvl="1"/>
            <a:r>
              <a:rPr lang="fr-FR" b="1" dirty="0" smtClean="0"/>
              <a:t>Fichiers CSS</a:t>
            </a:r>
            <a:r>
              <a:rPr lang="fr-FR" dirty="0" smtClean="0"/>
              <a:t> : Stylisation et mise en forme</a:t>
            </a:r>
          </a:p>
          <a:p>
            <a:pPr lvl="1"/>
            <a:r>
              <a:rPr lang="fr-FR" b="1" dirty="0" err="1" smtClean="0"/>
              <a:t>Templates</a:t>
            </a:r>
            <a:r>
              <a:rPr lang="fr-FR" b="1" dirty="0" smtClean="0"/>
              <a:t> HTML</a:t>
            </a:r>
            <a:r>
              <a:rPr lang="fr-FR" dirty="0" smtClean="0"/>
              <a:t> : Structure des pages web</a:t>
            </a:r>
          </a:p>
          <a:p>
            <a:pPr lvl="1"/>
            <a:r>
              <a:rPr lang="fr-FR" b="1" dirty="0" smtClean="0"/>
              <a:t>Fichiers Statiques</a:t>
            </a:r>
            <a:r>
              <a:rPr lang="fr-FR" dirty="0" smtClean="0"/>
              <a:t> : Images, CSS, JS compilés</a:t>
            </a:r>
          </a:p>
          <a:p>
            <a:r>
              <a:rPr lang="fr-FR" b="1" dirty="0" smtClean="0"/>
              <a:t>🔧 Couche Framework Django</a:t>
            </a:r>
          </a:p>
          <a:p>
            <a:r>
              <a:rPr lang="fr-FR" b="1" dirty="0" smtClean="0"/>
              <a:t>Rôle</a:t>
            </a:r>
            <a:r>
              <a:rPr lang="fr-FR" dirty="0" smtClean="0"/>
              <a:t> : Cœur du </a:t>
            </a:r>
            <a:r>
              <a:rPr lang="fr-FR" dirty="0" err="1" smtClean="0"/>
              <a:t>framework</a:t>
            </a:r>
            <a:r>
              <a:rPr lang="fr-FR" dirty="0" smtClean="0"/>
              <a:t> et </a:t>
            </a:r>
            <a:r>
              <a:rPr lang="fr-FR" dirty="0" err="1" smtClean="0"/>
              <a:t>routing</a:t>
            </a:r>
            <a:endParaRPr lang="fr-FR" dirty="0" smtClean="0"/>
          </a:p>
          <a:p>
            <a:r>
              <a:rPr lang="fr-FR" b="1" dirty="0" smtClean="0"/>
              <a:t>Composants</a:t>
            </a:r>
            <a:r>
              <a:rPr lang="fr-FR" dirty="0" smtClean="0"/>
              <a:t> : </a:t>
            </a:r>
          </a:p>
          <a:p>
            <a:pPr lvl="1"/>
            <a:r>
              <a:rPr lang="fr-FR" b="1" dirty="0" err="1" smtClean="0"/>
              <a:t>URLs</a:t>
            </a:r>
            <a:r>
              <a:rPr lang="fr-FR" b="1" dirty="0" smtClean="0"/>
              <a:t> Dispatcher</a:t>
            </a:r>
            <a:r>
              <a:rPr lang="fr-FR" dirty="0" smtClean="0"/>
              <a:t> : Routage des requêtes vers les bonnes vues</a:t>
            </a:r>
          </a:p>
          <a:p>
            <a:pPr lvl="1"/>
            <a:r>
              <a:rPr lang="fr-FR" b="1" dirty="0" err="1" smtClean="0"/>
              <a:t>Static</a:t>
            </a:r>
            <a:r>
              <a:rPr lang="fr-FR" b="1" dirty="0" smtClean="0"/>
              <a:t> Files Handler</a:t>
            </a:r>
            <a:r>
              <a:rPr lang="fr-FR" dirty="0" smtClean="0"/>
              <a:t> : Gestion des fichiers statiques</a:t>
            </a:r>
          </a:p>
          <a:p>
            <a:pPr lvl="1"/>
            <a:r>
              <a:rPr lang="fr-FR" b="1" dirty="0" smtClean="0"/>
              <a:t>Template Engine</a:t>
            </a:r>
            <a:r>
              <a:rPr lang="fr-FR" dirty="0" smtClean="0"/>
              <a:t> : Moteur de rendu des </a:t>
            </a:r>
            <a:r>
              <a:rPr lang="fr-FR" dirty="0" err="1" smtClean="0"/>
              <a:t>templates</a:t>
            </a:r>
            <a:endParaRPr lang="fr-FR" dirty="0" smtClean="0"/>
          </a:p>
          <a:p>
            <a:pPr lvl="1"/>
            <a:r>
              <a:rPr lang="fr-FR" b="1" dirty="0" err="1" smtClean="0"/>
              <a:t>Views</a:t>
            </a:r>
            <a:r>
              <a:rPr lang="fr-FR" b="1" dirty="0" smtClean="0"/>
              <a:t> Django</a:t>
            </a:r>
            <a:r>
              <a:rPr lang="fr-FR" dirty="0" smtClean="0"/>
              <a:t> : Contrôleurs qui traitent les requêtes</a:t>
            </a:r>
          </a:p>
          <a:p>
            <a:pPr lvl="1"/>
            <a:r>
              <a:rPr lang="fr-FR" b="1" dirty="0" err="1" smtClean="0"/>
              <a:t>Forms</a:t>
            </a:r>
            <a:r>
              <a:rPr lang="fr-FR" b="1" dirty="0" smtClean="0"/>
              <a:t> Django</a:t>
            </a:r>
            <a:r>
              <a:rPr lang="fr-FR" dirty="0" smtClean="0"/>
              <a:t> : Gestion et validation des formulaires</a:t>
            </a:r>
          </a:p>
          <a:p>
            <a:r>
              <a:rPr lang="fr-FR" b="1" dirty="0" smtClean="0"/>
              <a:t>📱 Couche Application (App Django)</a:t>
            </a:r>
          </a:p>
          <a:p>
            <a:r>
              <a:rPr lang="fr-FR" b="1" dirty="0" smtClean="0"/>
              <a:t>Rôle</a:t>
            </a:r>
            <a:r>
              <a:rPr lang="fr-FR" dirty="0" smtClean="0"/>
              <a:t> : Logique métier de l'application</a:t>
            </a:r>
          </a:p>
          <a:p>
            <a:r>
              <a:rPr lang="fr-FR" b="1" dirty="0" smtClean="0"/>
              <a:t>Composants</a:t>
            </a:r>
            <a:r>
              <a:rPr lang="fr-FR" dirty="0" smtClean="0"/>
              <a:t> : </a:t>
            </a:r>
          </a:p>
          <a:p>
            <a:pPr lvl="1"/>
            <a:r>
              <a:rPr lang="fr-FR" b="1" dirty="0" smtClean="0"/>
              <a:t>APP Comptabilité</a:t>
            </a:r>
            <a:r>
              <a:rPr lang="fr-FR" dirty="0" smtClean="0"/>
              <a:t> : Module de gestion comptable</a:t>
            </a:r>
          </a:p>
          <a:p>
            <a:pPr lvl="1"/>
            <a:r>
              <a:rPr lang="fr-FR" b="1" dirty="0" smtClean="0"/>
              <a:t>App Ventes</a:t>
            </a:r>
            <a:r>
              <a:rPr lang="fr-FR" dirty="0" smtClean="0"/>
              <a:t> : Module de gestion des ventes</a:t>
            </a:r>
          </a:p>
          <a:p>
            <a:pPr lvl="1"/>
            <a:r>
              <a:rPr lang="fr-FR" b="1" dirty="0" smtClean="0"/>
              <a:t>App RH</a:t>
            </a:r>
            <a:r>
              <a:rPr lang="fr-FR" dirty="0" smtClean="0"/>
              <a:t> : Module ressources humaines</a:t>
            </a:r>
          </a:p>
          <a:p>
            <a:pPr lvl="1"/>
            <a:r>
              <a:rPr lang="fr-FR" b="1" dirty="0" smtClean="0"/>
              <a:t>App Stock</a:t>
            </a:r>
            <a:r>
              <a:rPr lang="fr-FR" dirty="0" smtClean="0"/>
              <a:t> : Module de gestion des stocks</a:t>
            </a:r>
          </a:p>
          <a:p>
            <a:pPr lvl="1"/>
            <a:r>
              <a:rPr lang="fr-FR" b="1" dirty="0" err="1" smtClean="0"/>
              <a:t>Auth</a:t>
            </a:r>
            <a:r>
              <a:rPr lang="fr-FR" b="1" dirty="0" smtClean="0"/>
              <a:t> App</a:t>
            </a:r>
            <a:r>
              <a:rPr lang="fr-FR" dirty="0" smtClean="0"/>
              <a:t> : Module d'authentification</a:t>
            </a:r>
          </a:p>
          <a:p>
            <a:r>
              <a:rPr lang="fr-FR" b="1" dirty="0" smtClean="0"/>
              <a:t>💾 Couche Données (</a:t>
            </a:r>
            <a:r>
              <a:rPr lang="fr-FR" b="1" dirty="0" err="1" smtClean="0"/>
              <a:t>Models</a:t>
            </a:r>
            <a:r>
              <a:rPr lang="fr-FR" b="1" dirty="0" smtClean="0"/>
              <a:t> Django &amp; ORM)</a:t>
            </a:r>
          </a:p>
          <a:p>
            <a:r>
              <a:rPr lang="fr-FR" b="1" dirty="0" smtClean="0"/>
              <a:t>Rôle</a:t>
            </a:r>
            <a:r>
              <a:rPr lang="fr-FR" dirty="0" smtClean="0"/>
              <a:t> : Accès et manipulation des données</a:t>
            </a:r>
          </a:p>
          <a:p>
            <a:r>
              <a:rPr lang="fr-FR" b="1" dirty="0" smtClean="0"/>
              <a:t>Composants</a:t>
            </a:r>
            <a:r>
              <a:rPr lang="fr-FR" dirty="0" smtClean="0"/>
              <a:t> : </a:t>
            </a:r>
          </a:p>
          <a:p>
            <a:pPr lvl="1"/>
            <a:r>
              <a:rPr lang="fr-FR" b="1" dirty="0" err="1" smtClean="0"/>
              <a:t>Models</a:t>
            </a:r>
            <a:r>
              <a:rPr lang="fr-FR" b="1" dirty="0" smtClean="0"/>
              <a:t> Comptabilité</a:t>
            </a:r>
            <a:r>
              <a:rPr lang="fr-FR" dirty="0" smtClean="0"/>
              <a:t> : Entités comptables</a:t>
            </a:r>
          </a:p>
          <a:p>
            <a:pPr lvl="1"/>
            <a:r>
              <a:rPr lang="fr-FR" b="1" dirty="0" err="1" smtClean="0"/>
              <a:t>Models</a:t>
            </a:r>
            <a:r>
              <a:rPr lang="fr-FR" b="1" dirty="0" smtClean="0"/>
              <a:t> RH</a:t>
            </a:r>
            <a:r>
              <a:rPr lang="fr-FR" dirty="0" smtClean="0"/>
              <a:t> : Entités ressources humaines</a:t>
            </a:r>
          </a:p>
          <a:p>
            <a:pPr lvl="1"/>
            <a:r>
              <a:rPr lang="fr-FR" b="1" dirty="0" err="1" smtClean="0"/>
              <a:t>Models</a:t>
            </a:r>
            <a:r>
              <a:rPr lang="fr-FR" b="1" dirty="0" smtClean="0"/>
              <a:t> Stock</a:t>
            </a:r>
            <a:r>
              <a:rPr lang="fr-FR" dirty="0" smtClean="0"/>
              <a:t> : Entités de stock</a:t>
            </a:r>
          </a:p>
          <a:p>
            <a:pPr lvl="1"/>
            <a:r>
              <a:rPr lang="fr-FR" b="1" dirty="0" err="1" smtClean="0"/>
              <a:t>Models</a:t>
            </a:r>
            <a:r>
              <a:rPr lang="fr-FR" b="1" dirty="0" smtClean="0"/>
              <a:t> Ventes</a:t>
            </a:r>
            <a:r>
              <a:rPr lang="fr-FR" dirty="0" smtClean="0"/>
              <a:t> : Entités de vente</a:t>
            </a:r>
          </a:p>
          <a:p>
            <a:pPr lvl="1"/>
            <a:r>
              <a:rPr lang="fr-FR" b="1" dirty="0" smtClean="0"/>
              <a:t>User </a:t>
            </a:r>
            <a:r>
              <a:rPr lang="fr-FR" b="1" dirty="0" err="1" smtClean="0"/>
              <a:t>Models</a:t>
            </a:r>
            <a:r>
              <a:rPr lang="fr-FR" dirty="0" smtClean="0"/>
              <a:t> : Gestion des utilisateurs</a:t>
            </a:r>
          </a:p>
          <a:p>
            <a:r>
              <a:rPr lang="fr-FR" b="1" dirty="0" smtClean="0"/>
              <a:t>2. Flux de Fonctionnement</a:t>
            </a:r>
          </a:p>
          <a:p>
            <a:r>
              <a:rPr lang="fr-FR" b="1" dirty="0" smtClean="0"/>
              <a:t>🔄 Cycle de Traitement d'une Requête</a:t>
            </a:r>
          </a:p>
          <a:p>
            <a:r>
              <a:rPr lang="fr-FR" b="1" dirty="0" smtClean="0"/>
              <a:t>Requête HTTP</a:t>
            </a:r>
            <a:r>
              <a:rPr lang="fr-FR" dirty="0" smtClean="0"/>
              <a:t> → arrive au serveur Django</a:t>
            </a:r>
          </a:p>
          <a:p>
            <a:r>
              <a:rPr lang="fr-FR" b="1" dirty="0" err="1" smtClean="0"/>
              <a:t>URLs</a:t>
            </a:r>
            <a:r>
              <a:rPr lang="fr-FR" b="1" dirty="0" smtClean="0"/>
              <a:t> Dispatcher</a:t>
            </a:r>
            <a:r>
              <a:rPr lang="fr-FR" dirty="0" smtClean="0"/>
              <a:t> → analyse l'URL et route vers la bonne vue</a:t>
            </a:r>
          </a:p>
          <a:p>
            <a:r>
              <a:rPr lang="fr-FR" b="1" dirty="0" err="1" smtClean="0"/>
              <a:t>Views</a:t>
            </a:r>
            <a:r>
              <a:rPr lang="fr-FR" b="1" dirty="0" smtClean="0"/>
              <a:t> Django</a:t>
            </a:r>
            <a:r>
              <a:rPr lang="fr-FR" dirty="0" smtClean="0"/>
              <a:t> → traite la requête et applique la logique métier</a:t>
            </a:r>
          </a:p>
          <a:p>
            <a:r>
              <a:rPr lang="fr-FR" b="1" dirty="0" err="1" smtClean="0"/>
              <a:t>Models</a:t>
            </a:r>
            <a:r>
              <a:rPr lang="fr-FR" b="1" dirty="0" smtClean="0"/>
              <a:t> (ORM)</a:t>
            </a:r>
            <a:r>
              <a:rPr lang="fr-FR" dirty="0" smtClean="0"/>
              <a:t> → accède aux données en BDD si nécessaire</a:t>
            </a:r>
          </a:p>
          <a:p>
            <a:r>
              <a:rPr lang="fr-FR" b="1" dirty="0" smtClean="0"/>
              <a:t>Template Engine</a:t>
            </a:r>
            <a:r>
              <a:rPr lang="fr-FR" dirty="0" smtClean="0"/>
              <a:t> → génère la réponse HTML</a:t>
            </a:r>
          </a:p>
          <a:p>
            <a:r>
              <a:rPr lang="fr-FR" b="1" dirty="0" smtClean="0"/>
              <a:t>Réponse HTTP</a:t>
            </a:r>
            <a:r>
              <a:rPr lang="fr-FR" dirty="0" smtClean="0"/>
              <a:t> → retournée au navigateur</a:t>
            </a:r>
          </a:p>
          <a:p>
            <a:r>
              <a:rPr lang="fr-FR" b="1" dirty="0" smtClean="0"/>
              <a:t>📊 Intégration des Composants</a:t>
            </a:r>
          </a:p>
          <a:p>
            <a:r>
              <a:rPr lang="fr-FR" b="1" dirty="0" err="1" smtClean="0"/>
              <a:t>BusinessLogic</a:t>
            </a:r>
            <a:r>
              <a:rPr lang="fr-FR" dirty="0" smtClean="0"/>
              <a:t> : Centralise la logique métier complexe</a:t>
            </a:r>
          </a:p>
          <a:p>
            <a:r>
              <a:rPr lang="fr-FR" b="1" dirty="0" err="1" smtClean="0"/>
              <a:t>IDjangoORM</a:t>
            </a:r>
            <a:r>
              <a:rPr lang="fr-FR" dirty="0" smtClean="0"/>
              <a:t> : Interface d'accès aux données</a:t>
            </a:r>
          </a:p>
          <a:p>
            <a:r>
              <a:rPr lang="fr-FR" b="1" dirty="0" err="1" smtClean="0"/>
              <a:t>IDjangoFramework</a:t>
            </a:r>
            <a:r>
              <a:rPr lang="fr-FR" dirty="0" smtClean="0"/>
              <a:t> : Interface du </a:t>
            </a:r>
            <a:r>
              <a:rPr lang="fr-FR" dirty="0" err="1" smtClean="0"/>
              <a:t>framework</a:t>
            </a:r>
            <a:r>
              <a:rPr lang="fr-FR" dirty="0" smtClean="0"/>
              <a:t> principal</a:t>
            </a:r>
          </a:p>
          <a:p>
            <a:r>
              <a:rPr lang="fr-FR" b="1" dirty="0" smtClean="0"/>
              <a:t>Stockage Local</a:t>
            </a:r>
            <a:r>
              <a:rPr lang="fr-FR" dirty="0" smtClean="0"/>
              <a:t> : Base de données locale</a:t>
            </a:r>
          </a:p>
          <a:p>
            <a:r>
              <a:rPr lang="fr-FR" b="1" dirty="0" smtClean="0"/>
              <a:t>3. Avantages de cette Architecture</a:t>
            </a:r>
          </a:p>
          <a:p>
            <a:r>
              <a:rPr lang="fr-FR" b="1" dirty="0" smtClean="0"/>
              <a:t>✅ Séparation des Responsabilités</a:t>
            </a:r>
          </a:p>
          <a:p>
            <a:r>
              <a:rPr lang="fr-FR" dirty="0" smtClean="0"/>
              <a:t>Chaque couche a un rôle bien défini</a:t>
            </a:r>
          </a:p>
          <a:p>
            <a:r>
              <a:rPr lang="fr-FR" dirty="0" smtClean="0"/>
              <a:t>Facilite la maintenance et les évolutions</a:t>
            </a:r>
          </a:p>
          <a:p>
            <a:r>
              <a:rPr lang="fr-FR" b="1" dirty="0" smtClean="0"/>
              <a:t>✅ Modularité</a:t>
            </a:r>
          </a:p>
          <a:p>
            <a:r>
              <a:rPr lang="fr-FR" dirty="0" smtClean="0"/>
              <a:t>Applications Django indépendantes</a:t>
            </a:r>
          </a:p>
          <a:p>
            <a:r>
              <a:rPr lang="fr-FR" dirty="0" smtClean="0"/>
              <a:t>Réutilisation possible des modules</a:t>
            </a:r>
          </a:p>
          <a:p>
            <a:r>
              <a:rPr lang="fr-FR" b="1" dirty="0" smtClean="0"/>
              <a:t>✅ </a:t>
            </a:r>
            <a:r>
              <a:rPr lang="fr-FR" b="1" dirty="0" err="1" smtClean="0"/>
              <a:t>Scalabilité</a:t>
            </a:r>
            <a:endParaRPr lang="fr-FR" b="1" dirty="0" smtClean="0"/>
          </a:p>
          <a:p>
            <a:r>
              <a:rPr lang="fr-FR" dirty="0" smtClean="0"/>
              <a:t>Architecture extensible</a:t>
            </a:r>
          </a:p>
          <a:p>
            <a:r>
              <a:rPr lang="fr-FR" dirty="0" smtClean="0"/>
              <a:t>Ajout facile de nouvelles applications</a:t>
            </a:r>
          </a:p>
          <a:p>
            <a:r>
              <a:rPr lang="fr-FR" b="1" dirty="0" smtClean="0"/>
              <a:t>✅ Sécurité</a:t>
            </a:r>
          </a:p>
          <a:p>
            <a:r>
              <a:rPr lang="fr-FR" dirty="0" smtClean="0"/>
              <a:t>Séparation claire entre présentation et données</a:t>
            </a:r>
          </a:p>
          <a:p>
            <a:r>
              <a:rPr lang="fr-FR" dirty="0" smtClean="0"/>
              <a:t>Framework Django sécurisé par défaut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998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Il montre la </a:t>
            </a:r>
            <a:r>
              <a:rPr lang="fr-CM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configuration physique du système</a:t>
            </a:r>
            <a:r>
              <a:rPr lang="fr-CM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: sur quels serveurs / machines les composants sont déployés.</a:t>
            </a: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9267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026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e7bf6ad70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e7bf6ad70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554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555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e7bf6ad70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e7bf6ad70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793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1360713c04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1360713c04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32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409400"/>
            <a:ext cx="7463400" cy="18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3734100"/>
            <a:ext cx="2414700" cy="61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700550" y="4861650"/>
            <a:ext cx="1367775" cy="101850"/>
            <a:chOff x="1180575" y="2984650"/>
            <a:chExt cx="1367775" cy="101850"/>
          </a:xfrm>
        </p:grpSpPr>
        <p:sp>
          <p:nvSpPr>
            <p:cNvPr id="13" name="Google Shape;13;p2"/>
            <p:cNvSpPr/>
            <p:nvPr/>
          </p:nvSpPr>
          <p:spPr>
            <a:xfrm>
              <a:off x="1180575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4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3" y="4074"/>
                    <a:pt x="2024" y="4074"/>
                  </a:cubicBezTo>
                  <a:cubicBezTo>
                    <a:pt x="3160" y="4074"/>
                    <a:pt x="4074" y="3136"/>
                    <a:pt x="4074" y="2025"/>
                  </a:cubicBezTo>
                  <a:cubicBezTo>
                    <a:pt x="4074" y="914"/>
                    <a:pt x="3160" y="0"/>
                    <a:pt x="20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49657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86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13825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25" y="0"/>
                  </a:moveTo>
                  <a:cubicBezTo>
                    <a:pt x="890" y="0"/>
                    <a:pt x="1" y="914"/>
                    <a:pt x="1" y="2025"/>
                  </a:cubicBezTo>
                  <a:cubicBezTo>
                    <a:pt x="1" y="3160"/>
                    <a:pt x="914" y="4074"/>
                    <a:pt x="2025" y="4074"/>
                  </a:cubicBezTo>
                  <a:cubicBezTo>
                    <a:pt x="3186" y="4074"/>
                    <a:pt x="4075" y="3136"/>
                    <a:pt x="4075" y="2025"/>
                  </a:cubicBezTo>
                  <a:cubicBezTo>
                    <a:pt x="4075" y="914"/>
                    <a:pt x="3136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129850" y="2984650"/>
              <a:ext cx="101875" cy="101850"/>
            </a:xfrm>
            <a:custGeom>
              <a:avLst/>
              <a:gdLst/>
              <a:ahLst/>
              <a:cxnLst/>
              <a:rect l="l" t="t" r="r" b="b"/>
              <a:pathLst>
                <a:path w="4075" h="4074" extrusionOk="0">
                  <a:moveTo>
                    <a:pt x="2050" y="0"/>
                  </a:moveTo>
                  <a:cubicBezTo>
                    <a:pt x="914" y="0"/>
                    <a:pt x="1" y="914"/>
                    <a:pt x="1" y="2025"/>
                  </a:cubicBezTo>
                  <a:cubicBezTo>
                    <a:pt x="1" y="3160"/>
                    <a:pt x="939" y="4074"/>
                    <a:pt x="2050" y="4074"/>
                  </a:cubicBezTo>
                  <a:cubicBezTo>
                    <a:pt x="3186" y="4074"/>
                    <a:pt x="4074" y="3136"/>
                    <a:pt x="4074" y="2025"/>
                  </a:cubicBezTo>
                  <a:cubicBezTo>
                    <a:pt x="4074" y="914"/>
                    <a:pt x="3161" y="0"/>
                    <a:pt x="2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46500" y="2984650"/>
              <a:ext cx="101850" cy="101850"/>
            </a:xfrm>
            <a:custGeom>
              <a:avLst/>
              <a:gdLst/>
              <a:ahLst/>
              <a:cxnLst/>
              <a:rect l="l" t="t" r="r" b="b"/>
              <a:pathLst>
                <a:path w="4074" h="4074" extrusionOk="0">
                  <a:moveTo>
                    <a:pt x="2025" y="0"/>
                  </a:moveTo>
                  <a:cubicBezTo>
                    <a:pt x="889" y="0"/>
                    <a:pt x="0" y="914"/>
                    <a:pt x="0" y="2025"/>
                  </a:cubicBezTo>
                  <a:cubicBezTo>
                    <a:pt x="0" y="3160"/>
                    <a:pt x="914" y="4074"/>
                    <a:pt x="2025" y="4074"/>
                  </a:cubicBezTo>
                  <a:cubicBezTo>
                    <a:pt x="3185" y="4074"/>
                    <a:pt x="4074" y="3136"/>
                    <a:pt x="4074" y="2025"/>
                  </a:cubicBezTo>
                  <a:cubicBezTo>
                    <a:pt x="4074" y="914"/>
                    <a:pt x="3185" y="0"/>
                    <a:pt x="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380100" y="2171456"/>
            <a:ext cx="40488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7311400" y="1204781"/>
            <a:ext cx="1117500" cy="8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/>
          <p:nvPr/>
        </p:nvSpPr>
        <p:spPr>
          <a:xfrm>
            <a:off x="8622483" y="309850"/>
            <a:ext cx="1026785" cy="131349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159275" y="-353275"/>
            <a:ext cx="1026800" cy="108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-46900" y="-63625"/>
            <a:ext cx="9304601" cy="520712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-1334775" y="4188925"/>
            <a:ext cx="1806596" cy="954579"/>
          </a:xfrm>
          <a:custGeom>
            <a:avLst/>
            <a:gdLst/>
            <a:ahLst/>
            <a:cxnLst/>
            <a:rect l="l" t="t" r="r" b="b"/>
            <a:pathLst>
              <a:path w="44812" h="23678" extrusionOk="0">
                <a:moveTo>
                  <a:pt x="32985" y="618"/>
                </a:moveTo>
                <a:cubicBezTo>
                  <a:pt x="39157" y="618"/>
                  <a:pt x="44194" y="5655"/>
                  <a:pt x="44194" y="11852"/>
                </a:cubicBezTo>
                <a:cubicBezTo>
                  <a:pt x="44194" y="18024"/>
                  <a:pt x="39157" y="23060"/>
                  <a:pt x="32985" y="23060"/>
                </a:cubicBezTo>
                <a:lnTo>
                  <a:pt x="618" y="23060"/>
                </a:lnTo>
                <a:lnTo>
                  <a:pt x="618" y="618"/>
                </a:lnTo>
                <a:close/>
                <a:moveTo>
                  <a:pt x="1" y="1"/>
                </a:moveTo>
                <a:lnTo>
                  <a:pt x="1" y="23678"/>
                </a:lnTo>
                <a:lnTo>
                  <a:pt x="32985" y="23678"/>
                </a:lnTo>
                <a:cubicBezTo>
                  <a:pt x="39503" y="23678"/>
                  <a:pt x="44811" y="18370"/>
                  <a:pt x="44811" y="11827"/>
                </a:cubicBezTo>
                <a:cubicBezTo>
                  <a:pt x="44811" y="5309"/>
                  <a:pt x="39503" y="1"/>
                  <a:pt x="329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8517400" y="393064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grpSp>
        <p:nvGrpSpPr>
          <p:cNvPr id="54" name="Google Shape;54;p6"/>
          <p:cNvGrpSpPr/>
          <p:nvPr/>
        </p:nvGrpSpPr>
        <p:grpSpPr>
          <a:xfrm rot="-5400000">
            <a:off x="8177146" y="4294480"/>
            <a:ext cx="1187108" cy="220801"/>
            <a:chOff x="4592575" y="1091000"/>
            <a:chExt cx="793150" cy="147525"/>
          </a:xfrm>
        </p:grpSpPr>
        <p:sp>
          <p:nvSpPr>
            <p:cNvPr id="55" name="Google Shape;55;p6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409100" y="280895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8"/>
          <p:cNvGrpSpPr/>
          <p:nvPr/>
        </p:nvGrpSpPr>
        <p:grpSpPr>
          <a:xfrm>
            <a:off x="7532821" y="4572341"/>
            <a:ext cx="1187108" cy="220801"/>
            <a:chOff x="4592575" y="1091000"/>
            <a:chExt cx="793150" cy="147525"/>
          </a:xfrm>
        </p:grpSpPr>
        <p:sp>
          <p:nvSpPr>
            <p:cNvPr id="82" name="Google Shape;82;p8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95" name="Google Shape;95;p9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165825" y="231738"/>
            <a:ext cx="493125" cy="5216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4">
            <a:alphaModFix/>
          </a:blip>
          <a:srcRect t="4228" r="13726" b="5224"/>
          <a:stretch/>
        </p:blipFill>
        <p:spPr>
          <a:xfrm rot="1928105">
            <a:off x="8210875" y="3407175"/>
            <a:ext cx="2709351" cy="1910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 rot="-5400000">
            <a:off x="8211050" y="4510938"/>
            <a:ext cx="1806596" cy="954579"/>
          </a:xfrm>
          <a:custGeom>
            <a:avLst/>
            <a:gdLst/>
            <a:ahLst/>
            <a:cxnLst/>
            <a:rect l="l" t="t" r="r" b="b"/>
            <a:pathLst>
              <a:path w="44812" h="23678" extrusionOk="0">
                <a:moveTo>
                  <a:pt x="32985" y="618"/>
                </a:moveTo>
                <a:cubicBezTo>
                  <a:pt x="39157" y="618"/>
                  <a:pt x="44194" y="5655"/>
                  <a:pt x="44194" y="11852"/>
                </a:cubicBezTo>
                <a:cubicBezTo>
                  <a:pt x="44194" y="18024"/>
                  <a:pt x="39157" y="23060"/>
                  <a:pt x="32985" y="23060"/>
                </a:cubicBezTo>
                <a:lnTo>
                  <a:pt x="618" y="23060"/>
                </a:lnTo>
                <a:lnTo>
                  <a:pt x="618" y="618"/>
                </a:lnTo>
                <a:close/>
                <a:moveTo>
                  <a:pt x="1" y="1"/>
                </a:moveTo>
                <a:lnTo>
                  <a:pt x="1" y="23678"/>
                </a:lnTo>
                <a:lnTo>
                  <a:pt x="32985" y="23678"/>
                </a:lnTo>
                <a:cubicBezTo>
                  <a:pt x="39503" y="23678"/>
                  <a:pt x="44811" y="18370"/>
                  <a:pt x="44811" y="11827"/>
                </a:cubicBezTo>
                <a:cubicBezTo>
                  <a:pt x="44811" y="5309"/>
                  <a:pt x="39503" y="1"/>
                  <a:pt x="329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46900" y="-63625"/>
            <a:ext cx="9304601" cy="5207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>
            <a:spLocks noGrp="1"/>
          </p:cNvSpPr>
          <p:nvPr>
            <p:ph type="title" hasCustomPrompt="1"/>
          </p:nvPr>
        </p:nvSpPr>
        <p:spPr>
          <a:xfrm>
            <a:off x="2567400" y="1487300"/>
            <a:ext cx="4009200" cy="1067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1"/>
          </p:nvPr>
        </p:nvSpPr>
        <p:spPr>
          <a:xfrm>
            <a:off x="2567400" y="2697400"/>
            <a:ext cx="40092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05" name="Google Shape;105;p11"/>
          <p:cNvGrpSpPr/>
          <p:nvPr/>
        </p:nvGrpSpPr>
        <p:grpSpPr>
          <a:xfrm rot="-9390209" flipH="1">
            <a:off x="7020967" y="-195827"/>
            <a:ext cx="2815848" cy="1670328"/>
            <a:chOff x="3129750" y="1771725"/>
            <a:chExt cx="2815800" cy="1670300"/>
          </a:xfrm>
        </p:grpSpPr>
        <p:sp>
          <p:nvSpPr>
            <p:cNvPr id="106" name="Google Shape;106;p11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9" name="Google Shape;109;p11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>
            <a:off x="-1885625" y="2975175"/>
            <a:ext cx="2709350" cy="19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3452" y="0"/>
            <a:ext cx="91909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2" hasCustomPrompt="1"/>
          </p:nvPr>
        </p:nvSpPr>
        <p:spPr>
          <a:xfrm>
            <a:off x="829273" y="1649137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3" hasCustomPrompt="1"/>
          </p:nvPr>
        </p:nvSpPr>
        <p:spPr>
          <a:xfrm>
            <a:off x="829273" y="3082545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4" hasCustomPrompt="1"/>
          </p:nvPr>
        </p:nvSpPr>
        <p:spPr>
          <a:xfrm>
            <a:off x="3493586" y="1649137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3493586" y="3082545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6157898" y="1649137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6157898" y="3082545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"/>
          </p:nvPr>
        </p:nvSpPr>
        <p:spPr>
          <a:xfrm>
            <a:off x="719975" y="2187828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8"/>
          </p:nvPr>
        </p:nvSpPr>
        <p:spPr>
          <a:xfrm>
            <a:off x="3384275" y="2187828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9"/>
          </p:nvPr>
        </p:nvSpPr>
        <p:spPr>
          <a:xfrm>
            <a:off x="6048600" y="2187828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3"/>
          </p:nvPr>
        </p:nvSpPr>
        <p:spPr>
          <a:xfrm>
            <a:off x="719975" y="3621303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4"/>
          </p:nvPr>
        </p:nvSpPr>
        <p:spPr>
          <a:xfrm>
            <a:off x="3384275" y="3621303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15"/>
          </p:nvPr>
        </p:nvSpPr>
        <p:spPr>
          <a:xfrm>
            <a:off x="6048600" y="3621303"/>
            <a:ext cx="2375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26" name="Google Shape;126;p13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>
            <a:off x="8078425" y="-223675"/>
            <a:ext cx="2709350" cy="1910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3"/>
          <p:cNvGrpSpPr/>
          <p:nvPr/>
        </p:nvGrpSpPr>
        <p:grpSpPr>
          <a:xfrm rot="866521" flipH="1">
            <a:off x="-428717" y="4187779"/>
            <a:ext cx="2815798" cy="1670299"/>
            <a:chOff x="3129750" y="1771725"/>
            <a:chExt cx="2815800" cy="1670300"/>
          </a:xfrm>
        </p:grpSpPr>
        <p:sp>
          <p:nvSpPr>
            <p:cNvPr id="128" name="Google Shape;128;p13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>
            <a:spLocks noGrp="1"/>
          </p:cNvSpPr>
          <p:nvPr>
            <p:ph type="subTitle" idx="1"/>
          </p:nvPr>
        </p:nvSpPr>
        <p:spPr>
          <a:xfrm>
            <a:off x="720000" y="2537625"/>
            <a:ext cx="33765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>
            <a:spLocks noGrp="1"/>
          </p:cNvSpPr>
          <p:nvPr>
            <p:ph type="pic" idx="2"/>
          </p:nvPr>
        </p:nvSpPr>
        <p:spPr>
          <a:xfrm>
            <a:off x="6998068" y="-11507"/>
            <a:ext cx="2172900" cy="2291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720000" y="1896700"/>
            <a:ext cx="337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>
            <a:spLocks noGrp="1"/>
          </p:cNvSpPr>
          <p:nvPr>
            <p:ph type="pic" idx="3"/>
          </p:nvPr>
        </p:nvSpPr>
        <p:spPr>
          <a:xfrm>
            <a:off x="4669768" y="2416400"/>
            <a:ext cx="4501200" cy="2727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15"/>
          <p:cNvSpPr>
            <a:spLocks noGrp="1"/>
          </p:cNvSpPr>
          <p:nvPr>
            <p:ph type="pic" idx="4"/>
          </p:nvPr>
        </p:nvSpPr>
        <p:spPr>
          <a:xfrm>
            <a:off x="4669768" y="-11507"/>
            <a:ext cx="2172900" cy="2291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9" name="Google Shape;149;p15"/>
          <p:cNvGrpSpPr/>
          <p:nvPr/>
        </p:nvGrpSpPr>
        <p:grpSpPr>
          <a:xfrm rot="-5400000">
            <a:off x="-360854" y="1090005"/>
            <a:ext cx="1187108" cy="220801"/>
            <a:chOff x="4592575" y="1091000"/>
            <a:chExt cx="793150" cy="147525"/>
          </a:xfrm>
        </p:grpSpPr>
        <p:sp>
          <p:nvSpPr>
            <p:cNvPr id="150" name="Google Shape;150;p15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l="11534" t="10354" r="12679"/>
          <a:stretch/>
        </p:blipFill>
        <p:spPr>
          <a:xfrm>
            <a:off x="-319750" y="61344"/>
            <a:ext cx="895474" cy="94731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ubTitle" idx="1"/>
          </p:nvPr>
        </p:nvSpPr>
        <p:spPr>
          <a:xfrm>
            <a:off x="5168500" y="1951724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2"/>
          </p:nvPr>
        </p:nvSpPr>
        <p:spPr>
          <a:xfrm>
            <a:off x="5168500" y="1621841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3"/>
          </p:nvPr>
        </p:nvSpPr>
        <p:spPr>
          <a:xfrm>
            <a:off x="1318975" y="1951724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4"/>
          </p:nvPr>
        </p:nvSpPr>
        <p:spPr>
          <a:xfrm>
            <a:off x="1318975" y="1621841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5"/>
          </p:nvPr>
        </p:nvSpPr>
        <p:spPr>
          <a:xfrm>
            <a:off x="5168500" y="3678358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6"/>
          </p:nvPr>
        </p:nvSpPr>
        <p:spPr>
          <a:xfrm>
            <a:off x="5168500" y="3348475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7"/>
          </p:nvPr>
        </p:nvSpPr>
        <p:spPr>
          <a:xfrm>
            <a:off x="1318975" y="3678358"/>
            <a:ext cx="26565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subTitle" idx="8"/>
          </p:nvPr>
        </p:nvSpPr>
        <p:spPr>
          <a:xfrm>
            <a:off x="1318975" y="3348475"/>
            <a:ext cx="2656500" cy="3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7934475" y="26967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21"/>
          <p:cNvGrpSpPr/>
          <p:nvPr/>
        </p:nvGrpSpPr>
        <p:grpSpPr>
          <a:xfrm rot="1375439" flipH="1">
            <a:off x="-554538" y="4102697"/>
            <a:ext cx="2815731" cy="1670259"/>
            <a:chOff x="3129750" y="1771725"/>
            <a:chExt cx="2815800" cy="1670300"/>
          </a:xfrm>
        </p:grpSpPr>
        <p:sp>
          <p:nvSpPr>
            <p:cNvPr id="268" name="Google Shape;268;p21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1" name="Google Shape;271;p21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 rot="2308458">
            <a:off x="7813750" y="4255750"/>
            <a:ext cx="2709350" cy="19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402" y="0"/>
            <a:ext cx="918480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 rotWithShape="1">
          <a:blip r:embed="rId3">
            <a:alphaModFix/>
          </a:blip>
          <a:srcRect t="4228" r="13726" b="5224"/>
          <a:stretch/>
        </p:blipFill>
        <p:spPr>
          <a:xfrm rot="1117848">
            <a:off x="-1750775" y="-193675"/>
            <a:ext cx="2709351" cy="19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543250" y="4502944"/>
            <a:ext cx="895474" cy="94731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grpSp>
        <p:nvGrpSpPr>
          <p:cNvPr id="318" name="Google Shape;318;p24"/>
          <p:cNvGrpSpPr/>
          <p:nvPr/>
        </p:nvGrpSpPr>
        <p:grpSpPr>
          <a:xfrm>
            <a:off x="7440671" y="178155"/>
            <a:ext cx="1187108" cy="220801"/>
            <a:chOff x="4592575" y="1091000"/>
            <a:chExt cx="793150" cy="147525"/>
          </a:xfrm>
        </p:grpSpPr>
        <p:sp>
          <p:nvSpPr>
            <p:cNvPr id="319" name="Google Shape;319;p24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3452" y="0"/>
            <a:ext cx="9190904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25"/>
          <p:cNvGrpSpPr/>
          <p:nvPr/>
        </p:nvGrpSpPr>
        <p:grpSpPr>
          <a:xfrm rot="10800000">
            <a:off x="-336690" y="-518473"/>
            <a:ext cx="2815800" cy="1670300"/>
            <a:chOff x="3129750" y="1771725"/>
            <a:chExt cx="2815800" cy="1670300"/>
          </a:xfrm>
        </p:grpSpPr>
        <p:sp>
          <p:nvSpPr>
            <p:cNvPr id="331" name="Google Shape;331;p25"/>
            <p:cNvSpPr/>
            <p:nvPr/>
          </p:nvSpPr>
          <p:spPr>
            <a:xfrm>
              <a:off x="3129750" y="1832825"/>
              <a:ext cx="2689900" cy="969150"/>
            </a:xfrm>
            <a:custGeom>
              <a:avLst/>
              <a:gdLst/>
              <a:ahLst/>
              <a:cxnLst/>
              <a:rect l="l" t="t" r="r" b="b"/>
              <a:pathLst>
                <a:path w="107596" h="38766" extrusionOk="0">
                  <a:moveTo>
                    <a:pt x="89352" y="0"/>
                  </a:moveTo>
                  <a:cubicBezTo>
                    <a:pt x="80715" y="0"/>
                    <a:pt x="70404" y="1940"/>
                    <a:pt x="61674" y="9064"/>
                  </a:cubicBezTo>
                  <a:cubicBezTo>
                    <a:pt x="57946" y="12076"/>
                    <a:pt x="54860" y="14916"/>
                    <a:pt x="51848" y="17681"/>
                  </a:cubicBezTo>
                  <a:cubicBezTo>
                    <a:pt x="39799" y="28741"/>
                    <a:pt x="31084" y="36741"/>
                    <a:pt x="1" y="37876"/>
                  </a:cubicBezTo>
                  <a:lnTo>
                    <a:pt x="50" y="38765"/>
                  </a:lnTo>
                  <a:cubicBezTo>
                    <a:pt x="31430" y="37605"/>
                    <a:pt x="40219" y="29507"/>
                    <a:pt x="52440" y="18323"/>
                  </a:cubicBezTo>
                  <a:cubicBezTo>
                    <a:pt x="55427" y="15582"/>
                    <a:pt x="58514" y="12768"/>
                    <a:pt x="62217" y="9731"/>
                  </a:cubicBezTo>
                  <a:cubicBezTo>
                    <a:pt x="70778" y="2773"/>
                    <a:pt x="80884" y="880"/>
                    <a:pt x="89354" y="880"/>
                  </a:cubicBezTo>
                  <a:cubicBezTo>
                    <a:pt x="99398" y="880"/>
                    <a:pt x="107140" y="3543"/>
                    <a:pt x="107274" y="3583"/>
                  </a:cubicBezTo>
                  <a:lnTo>
                    <a:pt x="107595" y="2769"/>
                  </a:lnTo>
                  <a:cubicBezTo>
                    <a:pt x="107448" y="2715"/>
                    <a:pt x="99571" y="0"/>
                    <a:pt x="893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3370475" y="1831700"/>
              <a:ext cx="2544225" cy="1280100"/>
            </a:xfrm>
            <a:custGeom>
              <a:avLst/>
              <a:gdLst/>
              <a:ahLst/>
              <a:cxnLst/>
              <a:rect l="l" t="t" r="r" b="b"/>
              <a:pathLst>
                <a:path w="101769" h="51204" extrusionOk="0">
                  <a:moveTo>
                    <a:pt x="91762" y="0"/>
                  </a:moveTo>
                  <a:cubicBezTo>
                    <a:pt x="82139" y="0"/>
                    <a:pt x="67559" y="2137"/>
                    <a:pt x="57131" y="13331"/>
                  </a:cubicBezTo>
                  <a:cubicBezTo>
                    <a:pt x="53872" y="16812"/>
                    <a:pt x="51181" y="20071"/>
                    <a:pt x="48588" y="23207"/>
                  </a:cubicBezTo>
                  <a:cubicBezTo>
                    <a:pt x="38145" y="35823"/>
                    <a:pt x="30615" y="44933"/>
                    <a:pt x="0" y="50340"/>
                  </a:cubicBezTo>
                  <a:lnTo>
                    <a:pt x="173" y="51204"/>
                  </a:lnTo>
                  <a:cubicBezTo>
                    <a:pt x="31084" y="45772"/>
                    <a:pt x="38713" y="36539"/>
                    <a:pt x="49304" y="23775"/>
                  </a:cubicBezTo>
                  <a:cubicBezTo>
                    <a:pt x="51847" y="20639"/>
                    <a:pt x="54538" y="17405"/>
                    <a:pt x="57773" y="13924"/>
                  </a:cubicBezTo>
                  <a:cubicBezTo>
                    <a:pt x="67994" y="2966"/>
                    <a:pt x="82296" y="865"/>
                    <a:pt x="91740" y="865"/>
                  </a:cubicBezTo>
                  <a:cubicBezTo>
                    <a:pt x="97511" y="865"/>
                    <a:pt x="101468" y="1650"/>
                    <a:pt x="101571" y="1678"/>
                  </a:cubicBezTo>
                  <a:lnTo>
                    <a:pt x="101768" y="814"/>
                  </a:lnTo>
                  <a:cubicBezTo>
                    <a:pt x="101656" y="795"/>
                    <a:pt x="97631" y="0"/>
                    <a:pt x="91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3647600" y="1771725"/>
              <a:ext cx="2297950" cy="1670300"/>
            </a:xfrm>
            <a:custGeom>
              <a:avLst/>
              <a:gdLst/>
              <a:ahLst/>
              <a:cxnLst/>
              <a:rect l="l" t="t" r="r" b="b"/>
              <a:pathLst>
                <a:path w="91918" h="66812" extrusionOk="0">
                  <a:moveTo>
                    <a:pt x="91528" y="0"/>
                  </a:moveTo>
                  <a:cubicBezTo>
                    <a:pt x="88076" y="0"/>
                    <a:pt x="62674" y="626"/>
                    <a:pt x="50070" y="19878"/>
                  </a:cubicBezTo>
                  <a:cubicBezTo>
                    <a:pt x="47404" y="23877"/>
                    <a:pt x="45330" y="27531"/>
                    <a:pt x="43305" y="31037"/>
                  </a:cubicBezTo>
                  <a:cubicBezTo>
                    <a:pt x="35158" y="45233"/>
                    <a:pt x="29257" y="55479"/>
                    <a:pt x="1" y="65972"/>
                  </a:cubicBezTo>
                  <a:lnTo>
                    <a:pt x="322" y="66812"/>
                  </a:lnTo>
                  <a:cubicBezTo>
                    <a:pt x="29874" y="56195"/>
                    <a:pt x="35824" y="45826"/>
                    <a:pt x="44071" y="31506"/>
                  </a:cubicBezTo>
                  <a:cubicBezTo>
                    <a:pt x="46095" y="27976"/>
                    <a:pt x="48169" y="24347"/>
                    <a:pt x="50811" y="20372"/>
                  </a:cubicBezTo>
                  <a:cubicBezTo>
                    <a:pt x="63172" y="1495"/>
                    <a:pt x="88118" y="889"/>
                    <a:pt x="91490" y="889"/>
                  </a:cubicBezTo>
                  <a:cubicBezTo>
                    <a:pt x="91721" y="889"/>
                    <a:pt x="91851" y="892"/>
                    <a:pt x="91868" y="892"/>
                  </a:cubicBezTo>
                  <a:lnTo>
                    <a:pt x="91918" y="3"/>
                  </a:lnTo>
                  <a:cubicBezTo>
                    <a:pt x="91902" y="3"/>
                    <a:pt x="91768" y="0"/>
                    <a:pt x="91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" name="Google Shape;334;p25"/>
          <p:cNvSpPr/>
          <p:nvPr/>
        </p:nvSpPr>
        <p:spPr>
          <a:xfrm>
            <a:off x="7658325" y="455122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25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493666">
            <a:off x="-1711784" y="3613372"/>
            <a:ext cx="7913369" cy="223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alant SemiBold"/>
              <a:buNone/>
              <a:defRPr sz="3300">
                <a:solidFill>
                  <a:schemeClr val="dk1"/>
                </a:solidFill>
                <a:latin typeface="Halant SemiBold"/>
                <a:ea typeface="Halant SemiBold"/>
                <a:cs typeface="Halant SemiBold"/>
                <a:sym typeface="Halan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●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○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■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●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○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■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●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○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dea"/>
              <a:buChar char="■"/>
              <a:defRPr sz="1200">
                <a:solidFill>
                  <a:schemeClr val="dk1"/>
                </a:solidFill>
                <a:latin typeface="Gudea"/>
                <a:ea typeface="Gudea"/>
                <a:cs typeface="Gudea"/>
                <a:sym typeface="Gude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1" r:id="rId9"/>
    <p:sldLayoutId id="2147483667" r:id="rId10"/>
    <p:sldLayoutId id="2147483670" r:id="rId11"/>
    <p:sldLayoutId id="2147483671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/>
          <p:cNvPicPr preferRelativeResize="0"/>
          <p:nvPr/>
        </p:nvPicPr>
        <p:blipFill rotWithShape="1">
          <a:blip r:embed="rId3">
            <a:alphaModFix/>
          </a:blip>
          <a:srcRect l="3193" t="7138" r="8098" b="5380"/>
          <a:stretch/>
        </p:blipFill>
        <p:spPr>
          <a:xfrm rot="-2466350">
            <a:off x="6262239" y="3310688"/>
            <a:ext cx="5390539" cy="15558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29"/>
          <p:cNvGrpSpPr/>
          <p:nvPr/>
        </p:nvGrpSpPr>
        <p:grpSpPr>
          <a:xfrm>
            <a:off x="-997135" y="4222146"/>
            <a:ext cx="2335875" cy="1031501"/>
            <a:chOff x="-506300" y="140875"/>
            <a:chExt cx="2335875" cy="1031501"/>
          </a:xfrm>
        </p:grpSpPr>
        <p:sp>
          <p:nvSpPr>
            <p:cNvPr id="350" name="Google Shape;350;p29"/>
            <p:cNvSpPr/>
            <p:nvPr/>
          </p:nvSpPr>
          <p:spPr>
            <a:xfrm>
              <a:off x="-506300" y="140875"/>
              <a:ext cx="1806596" cy="954579"/>
            </a:xfrm>
            <a:custGeom>
              <a:avLst/>
              <a:gdLst/>
              <a:ahLst/>
              <a:cxnLst/>
              <a:rect l="l" t="t" r="r" b="b"/>
              <a:pathLst>
                <a:path w="44812" h="23678" extrusionOk="0">
                  <a:moveTo>
                    <a:pt x="32985" y="618"/>
                  </a:moveTo>
                  <a:cubicBezTo>
                    <a:pt x="39157" y="618"/>
                    <a:pt x="44194" y="5655"/>
                    <a:pt x="44194" y="11852"/>
                  </a:cubicBezTo>
                  <a:cubicBezTo>
                    <a:pt x="44194" y="18024"/>
                    <a:pt x="39157" y="23060"/>
                    <a:pt x="32985" y="23060"/>
                  </a:cubicBezTo>
                  <a:lnTo>
                    <a:pt x="618" y="23060"/>
                  </a:lnTo>
                  <a:lnTo>
                    <a:pt x="618" y="618"/>
                  </a:lnTo>
                  <a:close/>
                  <a:moveTo>
                    <a:pt x="1" y="1"/>
                  </a:moveTo>
                  <a:lnTo>
                    <a:pt x="1" y="23678"/>
                  </a:lnTo>
                  <a:lnTo>
                    <a:pt x="32985" y="23678"/>
                  </a:lnTo>
                  <a:cubicBezTo>
                    <a:pt x="39503" y="23678"/>
                    <a:pt x="44811" y="18370"/>
                    <a:pt x="44811" y="11827"/>
                  </a:cubicBezTo>
                  <a:cubicBezTo>
                    <a:pt x="44811" y="5309"/>
                    <a:pt x="39503" y="1"/>
                    <a:pt x="329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1" name="Google Shape;351;p29"/>
            <p:cNvPicPr preferRelativeResize="0"/>
            <p:nvPr/>
          </p:nvPicPr>
          <p:blipFill rotWithShape="1">
            <a:blip r:embed="rId4">
              <a:alphaModFix/>
            </a:blip>
            <a:srcRect l="11534" t="10354" r="12679"/>
            <a:stretch/>
          </p:blipFill>
          <p:spPr>
            <a:xfrm>
              <a:off x="934075" y="225050"/>
              <a:ext cx="895500" cy="9473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Cadre 20"/>
          <p:cNvSpPr/>
          <p:nvPr/>
        </p:nvSpPr>
        <p:spPr>
          <a:xfrm>
            <a:off x="306080" y="479226"/>
            <a:ext cx="7365960" cy="1467962"/>
          </a:xfrm>
          <a:prstGeom prst="fram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0"/>
          <p:cNvSpPr/>
          <p:nvPr/>
        </p:nvSpPr>
        <p:spPr>
          <a:xfrm>
            <a:off x="672301" y="795238"/>
            <a:ext cx="6575992" cy="76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Mise en place d'un ERP </a:t>
            </a:r>
            <a:r>
              <a:rPr lang="en-US" sz="3600" dirty="0" err="1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Gratuit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306081" y="2795588"/>
            <a:ext cx="5728960" cy="134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Une solution accessible pour la gestion intégrée des PME, </a:t>
            </a:r>
            <a:r>
              <a:rPr lang="en-US" sz="26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et </a:t>
            </a: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associations</a:t>
            </a:r>
            <a:endParaRPr lang="en-US" sz="26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589967" y="2112993"/>
            <a:ext cx="1137829" cy="1706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rganigramme : Terminateur 31"/>
          <p:cNvSpPr/>
          <p:nvPr/>
        </p:nvSpPr>
        <p:spPr>
          <a:xfrm>
            <a:off x="887685" y="1900072"/>
            <a:ext cx="3793344" cy="418552"/>
          </a:xfrm>
          <a:prstGeom prst="flowChartTerminator">
            <a:avLst/>
          </a:prstGeom>
          <a:gradFill flip="none" rotWithShape="1">
            <a:gsLst>
              <a:gs pos="45000">
                <a:srgbClr val="EA6A1F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Organigramme : Terminateur 36"/>
          <p:cNvSpPr/>
          <p:nvPr/>
        </p:nvSpPr>
        <p:spPr>
          <a:xfrm>
            <a:off x="983803" y="3182394"/>
            <a:ext cx="3793344" cy="418552"/>
          </a:xfrm>
          <a:prstGeom prst="flowChartTerminator">
            <a:avLst/>
          </a:prstGeom>
          <a:gradFill flip="none" rotWithShape="1">
            <a:gsLst>
              <a:gs pos="45000">
                <a:srgbClr val="00B05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5" name="Google Shape;375;p31"/>
          <p:cNvSpPr txBox="1">
            <a:spLocks noGrp="1"/>
          </p:cNvSpPr>
          <p:nvPr>
            <p:ph type="subTitle" idx="8"/>
          </p:nvPr>
        </p:nvSpPr>
        <p:spPr>
          <a:xfrm>
            <a:off x="1419188" y="1850197"/>
            <a:ext cx="2552869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 Conceptuel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7" name="Google Shape;377;p31"/>
          <p:cNvSpPr txBox="1">
            <a:spLocks noGrp="1"/>
          </p:cNvSpPr>
          <p:nvPr>
            <p:ph type="subTitle" idx="13"/>
          </p:nvPr>
        </p:nvSpPr>
        <p:spPr>
          <a:xfrm>
            <a:off x="1403791" y="3124306"/>
            <a:ext cx="2784752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Maquettes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0" y="117080"/>
            <a:ext cx="9144000" cy="461665"/>
            <a:chOff x="0" y="114007"/>
            <a:chExt cx="9144000" cy="461665"/>
          </a:xfrm>
        </p:grpSpPr>
        <p:sp>
          <p:nvSpPr>
            <p:cNvPr id="12" name="Bouée 11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Bouée 12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4" name="Connecteur droit 13"/>
            <p:cNvCxnSpPr>
              <a:stCxn id="12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>
              <a:endCxn id="13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ZoneTexte 15"/>
            <p:cNvSpPr txBox="1"/>
            <p:nvPr/>
          </p:nvSpPr>
          <p:spPr>
            <a:xfrm>
              <a:off x="2607202" y="114007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PLAN DE TRAVAIL</a:t>
              </a:r>
            </a:p>
          </p:txBody>
        </p:sp>
      </p:grpSp>
      <p:sp>
        <p:nvSpPr>
          <p:cNvPr id="36" name="Organigramme : Terminateur 35"/>
          <p:cNvSpPr/>
          <p:nvPr/>
        </p:nvSpPr>
        <p:spPr>
          <a:xfrm>
            <a:off x="983803" y="2558977"/>
            <a:ext cx="3793344" cy="418552"/>
          </a:xfrm>
          <a:prstGeom prst="flowChartTerminator">
            <a:avLst/>
          </a:prstGeom>
          <a:gradFill flip="none" rotWithShape="1">
            <a:gsLst>
              <a:gs pos="45000">
                <a:srgbClr val="01ACC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6" name="Google Shape;376;p31"/>
          <p:cNvSpPr txBox="1">
            <a:spLocks noGrp="1"/>
          </p:cNvSpPr>
          <p:nvPr>
            <p:ph type="subTitle" idx="9"/>
          </p:nvPr>
        </p:nvSpPr>
        <p:spPr>
          <a:xfrm>
            <a:off x="1439090" y="2523489"/>
            <a:ext cx="2542349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M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Outils utilisés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4055859" y="909588"/>
            <a:ext cx="3882788" cy="3671248"/>
          </a:xfrm>
          <a:prstGeom prst="ellipse">
            <a:avLst/>
          </a:prstGeom>
          <a:solidFill>
            <a:srgbClr val="B5D8C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4389699" y="1197280"/>
            <a:ext cx="3215109" cy="3212960"/>
            <a:chOff x="4383210" y="1026680"/>
            <a:chExt cx="3215109" cy="3212960"/>
          </a:xfrm>
        </p:grpSpPr>
        <p:sp>
          <p:nvSpPr>
            <p:cNvPr id="27" name="Ellipse 26"/>
            <p:cNvSpPr/>
            <p:nvPr/>
          </p:nvSpPr>
          <p:spPr>
            <a:xfrm>
              <a:off x="4383210" y="1026680"/>
              <a:ext cx="3215109" cy="3085912"/>
            </a:xfrm>
            <a:prstGeom prst="ellipse">
              <a:avLst/>
            </a:prstGeom>
            <a:ln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693828" y="1073359"/>
              <a:ext cx="2176818" cy="3166281"/>
            </a:xfrm>
            <a:prstGeom prst="rect">
              <a:avLst/>
            </a:prstGeom>
          </p:spPr>
        </p:pic>
      </p:grpSp>
      <p:sp>
        <p:nvSpPr>
          <p:cNvPr id="35" name="Ellipse 34"/>
          <p:cNvSpPr/>
          <p:nvPr/>
        </p:nvSpPr>
        <p:spPr>
          <a:xfrm>
            <a:off x="867413" y="3115581"/>
            <a:ext cx="531503" cy="518554"/>
          </a:xfrm>
          <a:prstGeom prst="ellipse">
            <a:avLst/>
          </a:prstGeom>
          <a:solidFill>
            <a:schemeClr val="accent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0" name="Groupe 29"/>
          <p:cNvGrpSpPr/>
          <p:nvPr/>
        </p:nvGrpSpPr>
        <p:grpSpPr>
          <a:xfrm>
            <a:off x="865427" y="1828957"/>
            <a:ext cx="536501" cy="518554"/>
            <a:chOff x="1043227" y="2127407"/>
            <a:chExt cx="536501" cy="518554"/>
          </a:xfrm>
        </p:grpSpPr>
        <p:sp>
          <p:nvSpPr>
            <p:cNvPr id="33" name="Ellipse 32"/>
            <p:cNvSpPr/>
            <p:nvPr/>
          </p:nvSpPr>
          <p:spPr>
            <a:xfrm>
              <a:off x="1046662" y="2127407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1043227" y="2187123"/>
              <a:ext cx="5365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spc="50" dirty="0" smtClean="0">
                  <a:ln w="0">
                    <a:solidFill>
                      <a:srgbClr val="FCC52A"/>
                    </a:solidFill>
                  </a:ln>
                  <a:solidFill>
                    <a:srgbClr val="EA6A1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01</a:t>
              </a:r>
              <a:endParaRPr lang="fr-FR" sz="2000" b="1" spc="50" dirty="0">
                <a:ln w="0">
                  <a:solidFill>
                    <a:srgbClr val="FCC52A"/>
                  </a:solidFill>
                </a:ln>
                <a:solidFill>
                  <a:srgbClr val="EA6A1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grpSp>
        <p:nvGrpSpPr>
          <p:cNvPr id="31" name="Groupe 30"/>
          <p:cNvGrpSpPr/>
          <p:nvPr/>
        </p:nvGrpSpPr>
        <p:grpSpPr>
          <a:xfrm>
            <a:off x="854661" y="2484045"/>
            <a:ext cx="544255" cy="518554"/>
            <a:chOff x="1032461" y="2782495"/>
            <a:chExt cx="544255" cy="518554"/>
          </a:xfrm>
        </p:grpSpPr>
        <p:sp>
          <p:nvSpPr>
            <p:cNvPr id="34" name="Ellipse 33"/>
            <p:cNvSpPr/>
            <p:nvPr/>
          </p:nvSpPr>
          <p:spPr>
            <a:xfrm>
              <a:off x="1045213" y="2782495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3" name="ZoneTexte 42"/>
            <p:cNvSpPr txBox="1"/>
            <p:nvPr/>
          </p:nvSpPr>
          <p:spPr>
            <a:xfrm>
              <a:off x="1032461" y="2852354"/>
              <a:ext cx="5365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spc="50" dirty="0" smtClean="0">
                  <a:ln w="0">
                    <a:solidFill>
                      <a:srgbClr val="01ACC0"/>
                    </a:solidFill>
                  </a:ln>
                  <a:solidFill>
                    <a:srgbClr val="01ACC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02</a:t>
              </a:r>
              <a:endParaRPr lang="fr-FR" sz="2000" b="1" spc="50" dirty="0">
                <a:ln w="0">
                  <a:solidFill>
                    <a:srgbClr val="01ACC0"/>
                  </a:solidFill>
                </a:ln>
                <a:solidFill>
                  <a:srgbClr val="01ACC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sp>
        <p:nvSpPr>
          <p:cNvPr id="44" name="ZoneTexte 43"/>
          <p:cNvSpPr txBox="1"/>
          <p:nvPr/>
        </p:nvSpPr>
        <p:spPr>
          <a:xfrm>
            <a:off x="862415" y="3184842"/>
            <a:ext cx="536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spc="50" dirty="0" smtClean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03</a:t>
            </a:r>
            <a:endParaRPr lang="fr-FR" sz="2000" b="1" spc="50" dirty="0">
              <a:ln w="0">
                <a:solidFill>
                  <a:srgbClr val="00B050"/>
                </a:solidFill>
              </a:ln>
              <a:solidFill>
                <a:srgbClr val="00B05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>
            <a:spLocks noGrp="1"/>
          </p:cNvSpPr>
          <p:nvPr>
            <p:ph type="title"/>
          </p:nvPr>
        </p:nvSpPr>
        <p:spPr>
          <a:xfrm>
            <a:off x="4895851" y="2171456"/>
            <a:ext cx="3533050" cy="7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/>
              <a:t>Analyse Conceptuelle</a:t>
            </a:r>
            <a:endParaRPr sz="4000" dirty="0"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214781">
            <a:off x="-1317392" y="3719766"/>
            <a:ext cx="7370835" cy="2084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32"/>
          <p:cNvGrpSpPr/>
          <p:nvPr/>
        </p:nvGrpSpPr>
        <p:grpSpPr>
          <a:xfrm>
            <a:off x="1537803" y="1907406"/>
            <a:ext cx="1187108" cy="220801"/>
            <a:chOff x="4592575" y="1091000"/>
            <a:chExt cx="793150" cy="147525"/>
          </a:xfrm>
        </p:grpSpPr>
        <p:sp>
          <p:nvSpPr>
            <p:cNvPr id="388" name="Google Shape;388;p32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7" name="Google Shape;397;p32"/>
          <p:cNvCxnSpPr/>
          <p:nvPr/>
        </p:nvCxnSpPr>
        <p:spPr>
          <a:xfrm rot="10800000">
            <a:off x="4683325" y="3938719"/>
            <a:ext cx="376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8" name="Google Shape;398;p32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1727011" y="2761955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43" y="-113188"/>
            <a:ext cx="4562432" cy="401778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8" name="Groupe 17"/>
          <p:cNvGrpSpPr/>
          <p:nvPr/>
        </p:nvGrpSpPr>
        <p:grpSpPr>
          <a:xfrm>
            <a:off x="6939185" y="966110"/>
            <a:ext cx="1213503" cy="1162097"/>
            <a:chOff x="1043227" y="2127407"/>
            <a:chExt cx="536501" cy="518554"/>
          </a:xfrm>
        </p:grpSpPr>
        <p:sp>
          <p:nvSpPr>
            <p:cNvPr id="19" name="Ellipse 18"/>
            <p:cNvSpPr/>
            <p:nvPr/>
          </p:nvSpPr>
          <p:spPr>
            <a:xfrm>
              <a:off x="1046662" y="2127407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1043227" y="2187123"/>
              <a:ext cx="536501" cy="412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b="1" spc="50" dirty="0" smtClean="0">
                  <a:ln w="0">
                    <a:solidFill>
                      <a:srgbClr val="FCC52A"/>
                    </a:solidFill>
                  </a:ln>
                  <a:solidFill>
                    <a:srgbClr val="EA6A1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01</a:t>
              </a:r>
              <a:endParaRPr lang="fr-FR" sz="2000" b="1" spc="50" dirty="0">
                <a:ln w="0">
                  <a:solidFill>
                    <a:srgbClr val="FCC52A"/>
                  </a:solidFill>
                </a:ln>
                <a:solidFill>
                  <a:srgbClr val="EA6A1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147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4"/>
          <p:cNvSpPr/>
          <p:nvPr/>
        </p:nvSpPr>
        <p:spPr>
          <a:xfrm>
            <a:off x="443600" y="479182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roupe 34"/>
          <p:cNvGrpSpPr/>
          <p:nvPr/>
        </p:nvGrpSpPr>
        <p:grpSpPr>
          <a:xfrm>
            <a:off x="0" y="97839"/>
            <a:ext cx="9144000" cy="461665"/>
            <a:chOff x="0" y="94766"/>
            <a:chExt cx="9144000" cy="461665"/>
          </a:xfrm>
        </p:grpSpPr>
        <p:sp>
          <p:nvSpPr>
            <p:cNvPr id="24" name="Bouée 23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Bouée 30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6" name="Connecteur droit 25"/>
            <p:cNvCxnSpPr>
              <a:stCxn id="24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>
              <a:endCxn id="31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ZoneTexte 28"/>
            <p:cNvSpPr txBox="1"/>
            <p:nvPr/>
          </p:nvSpPr>
          <p:spPr>
            <a:xfrm>
              <a:off x="2673384" y="94766"/>
              <a:ext cx="3488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 smtClean="0"/>
                <a:t>Analyse</a:t>
              </a:r>
              <a:r>
                <a:rPr lang="en-US" sz="2400" b="1" dirty="0" smtClean="0"/>
                <a:t> </a:t>
              </a:r>
              <a:r>
                <a:rPr lang="en-US" sz="2400" b="1" dirty="0" err="1" smtClean="0"/>
                <a:t>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382017" y="590229"/>
            <a:ext cx="2567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Diagramme de cas d’utilisation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124" y="661047"/>
            <a:ext cx="5527620" cy="4411069"/>
          </a:xfrm>
          <a:prstGeom prst="rect">
            <a:avLst/>
          </a:prstGeom>
          <a:ln w="19050" cap="sq" cmpd="thickThin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546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4"/>
          <p:cNvSpPr/>
          <p:nvPr/>
        </p:nvSpPr>
        <p:spPr>
          <a:xfrm>
            <a:off x="443600" y="4791820"/>
            <a:ext cx="895469" cy="114551"/>
          </a:xfrm>
          <a:custGeom>
            <a:avLst/>
            <a:gdLst/>
            <a:ahLst/>
            <a:cxnLst/>
            <a:rect l="l" t="t" r="r" b="b"/>
            <a:pathLst>
              <a:path w="25875" h="3310" extrusionOk="0">
                <a:moveTo>
                  <a:pt x="5852" y="1"/>
                </a:moveTo>
                <a:lnTo>
                  <a:pt x="3013" y="2470"/>
                </a:lnTo>
                <a:lnTo>
                  <a:pt x="396" y="198"/>
                </a:lnTo>
                <a:lnTo>
                  <a:pt x="1" y="667"/>
                </a:lnTo>
                <a:lnTo>
                  <a:pt x="3013" y="3309"/>
                </a:lnTo>
                <a:lnTo>
                  <a:pt x="5852" y="840"/>
                </a:lnTo>
                <a:lnTo>
                  <a:pt x="8691" y="3309"/>
                </a:lnTo>
                <a:lnTo>
                  <a:pt x="11506" y="840"/>
                </a:lnTo>
                <a:lnTo>
                  <a:pt x="14345" y="3309"/>
                </a:lnTo>
                <a:lnTo>
                  <a:pt x="17184" y="840"/>
                </a:lnTo>
                <a:lnTo>
                  <a:pt x="20023" y="3309"/>
                </a:lnTo>
                <a:lnTo>
                  <a:pt x="22863" y="840"/>
                </a:lnTo>
                <a:lnTo>
                  <a:pt x="25480" y="3136"/>
                </a:lnTo>
                <a:lnTo>
                  <a:pt x="25875" y="2667"/>
                </a:lnTo>
                <a:lnTo>
                  <a:pt x="22863" y="1"/>
                </a:lnTo>
                <a:lnTo>
                  <a:pt x="20023" y="2470"/>
                </a:lnTo>
                <a:lnTo>
                  <a:pt x="17184" y="1"/>
                </a:lnTo>
                <a:lnTo>
                  <a:pt x="14345" y="2470"/>
                </a:lnTo>
                <a:lnTo>
                  <a:pt x="11506" y="1"/>
                </a:lnTo>
                <a:lnTo>
                  <a:pt x="8691" y="2470"/>
                </a:lnTo>
                <a:lnTo>
                  <a:pt x="585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roupe 34"/>
          <p:cNvGrpSpPr/>
          <p:nvPr/>
        </p:nvGrpSpPr>
        <p:grpSpPr>
          <a:xfrm>
            <a:off x="0" y="97839"/>
            <a:ext cx="9144000" cy="461665"/>
            <a:chOff x="0" y="94766"/>
            <a:chExt cx="9144000" cy="461665"/>
          </a:xfrm>
        </p:grpSpPr>
        <p:sp>
          <p:nvSpPr>
            <p:cNvPr id="24" name="Bouée 23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Bouée 30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6" name="Connecteur droit 25"/>
            <p:cNvCxnSpPr>
              <a:stCxn id="24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>
              <a:endCxn id="31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ZoneTexte 28"/>
            <p:cNvSpPr txBox="1"/>
            <p:nvPr/>
          </p:nvSpPr>
          <p:spPr>
            <a:xfrm>
              <a:off x="2673384" y="94766"/>
              <a:ext cx="3488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 smtClean="0"/>
                <a:t>Analyse</a:t>
              </a:r>
              <a:r>
                <a:rPr lang="en-US" sz="2400" b="1" dirty="0" smtClean="0"/>
                <a:t> </a:t>
              </a:r>
              <a:r>
                <a:rPr lang="en-US" sz="2400" b="1" dirty="0" err="1"/>
                <a:t>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568629" y="745976"/>
            <a:ext cx="2567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 smtClean="0"/>
              <a:t>Diagramme</a:t>
            </a:r>
            <a:r>
              <a:rPr lang="en-US" dirty="0" smtClean="0"/>
              <a:t> </a:t>
            </a:r>
            <a:r>
              <a:rPr lang="en-US" dirty="0" err="1" smtClean="0"/>
              <a:t>d’activité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203" y="597987"/>
            <a:ext cx="3420628" cy="15814860"/>
          </a:xfrm>
          <a:prstGeom prst="rect">
            <a:avLst/>
          </a:prstGeom>
          <a:ln w="19050" cap="sq" cmpd="thickThin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7826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0" y="89293"/>
            <a:ext cx="9144000" cy="464424"/>
            <a:chOff x="0" y="86220"/>
            <a:chExt cx="9144000" cy="464424"/>
          </a:xfrm>
        </p:grpSpPr>
        <p:sp>
          <p:nvSpPr>
            <p:cNvPr id="23" name="Bouée 22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Bouée 23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5" name="Connecteur droit 24"/>
            <p:cNvCxnSpPr>
              <a:stCxn id="23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endCxn id="24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Analyse 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-187124" y="2215147"/>
            <a:ext cx="2441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sz="1800" dirty="0" smtClean="0"/>
              <a:t>Diagramme de </a:t>
            </a:r>
            <a:r>
              <a:rPr lang="en-US" sz="1800" dirty="0" err="1" smtClean="0"/>
              <a:t>classe</a:t>
            </a:r>
            <a:r>
              <a:rPr lang="en-US" sz="1800" dirty="0" smtClean="0"/>
              <a:t> user</a:t>
            </a:r>
            <a:endParaRPr lang="fr-FR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206" y="1224866"/>
            <a:ext cx="6820794" cy="3273224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0" y="89293"/>
            <a:ext cx="9144000" cy="464424"/>
            <a:chOff x="0" y="86220"/>
            <a:chExt cx="9144000" cy="464424"/>
          </a:xfrm>
        </p:grpSpPr>
        <p:sp>
          <p:nvSpPr>
            <p:cNvPr id="23" name="Bouée 22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Bouée 23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5" name="Connecteur droit 24"/>
            <p:cNvCxnSpPr>
              <a:stCxn id="23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endCxn id="24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Analyse 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-187124" y="2215147"/>
            <a:ext cx="2441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sz="1800" dirty="0" smtClean="0"/>
              <a:t>Diagramme de </a:t>
            </a:r>
            <a:r>
              <a:rPr lang="en-US" sz="1800" dirty="0" err="1" smtClean="0"/>
              <a:t>classe</a:t>
            </a:r>
            <a:r>
              <a:rPr lang="en-US" sz="1800" dirty="0" smtClean="0"/>
              <a:t> RH</a:t>
            </a:r>
            <a:endParaRPr lang="fr-FR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1"/>
          <a:stretch/>
        </p:blipFill>
        <p:spPr>
          <a:xfrm>
            <a:off x="3074838" y="493778"/>
            <a:ext cx="5528388" cy="4579667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9799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0" y="89293"/>
            <a:ext cx="9144000" cy="464424"/>
            <a:chOff x="0" y="86220"/>
            <a:chExt cx="9144000" cy="464424"/>
          </a:xfrm>
        </p:grpSpPr>
        <p:sp>
          <p:nvSpPr>
            <p:cNvPr id="23" name="Bouée 22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Bouée 23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5" name="Connecteur droit 24"/>
            <p:cNvCxnSpPr>
              <a:stCxn id="23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endCxn id="24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Analyse 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-187124" y="2215147"/>
            <a:ext cx="2441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sz="1800" dirty="0" smtClean="0"/>
              <a:t>Diagramme de </a:t>
            </a:r>
            <a:r>
              <a:rPr lang="en-US" sz="1800" dirty="0" err="1" smtClean="0"/>
              <a:t>classe</a:t>
            </a:r>
            <a:r>
              <a:rPr lang="en-US" sz="1800" dirty="0" smtClean="0"/>
              <a:t> STOCK</a:t>
            </a:r>
            <a:endParaRPr lang="fr-FR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600" y="697925"/>
            <a:ext cx="5834626" cy="4402440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4509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0" y="89293"/>
            <a:ext cx="9144000" cy="464424"/>
            <a:chOff x="0" y="86220"/>
            <a:chExt cx="9144000" cy="464424"/>
          </a:xfrm>
        </p:grpSpPr>
        <p:sp>
          <p:nvSpPr>
            <p:cNvPr id="23" name="Bouée 22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Bouée 23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5" name="Connecteur droit 24"/>
            <p:cNvCxnSpPr>
              <a:stCxn id="23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endCxn id="24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Analyse 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19910" y="445870"/>
            <a:ext cx="327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sz="1800" dirty="0" smtClean="0"/>
              <a:t>Diagramme de </a:t>
            </a:r>
            <a:r>
              <a:rPr lang="en-US" sz="1800" dirty="0" smtClean="0"/>
              <a:t>Sequence</a:t>
            </a:r>
            <a:endParaRPr lang="fr-FR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26" y="894438"/>
            <a:ext cx="8510206" cy="411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6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0" y="89293"/>
            <a:ext cx="9144000" cy="464424"/>
            <a:chOff x="0" y="86220"/>
            <a:chExt cx="9144000" cy="464424"/>
          </a:xfrm>
        </p:grpSpPr>
        <p:sp>
          <p:nvSpPr>
            <p:cNvPr id="23" name="Bouée 22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Bouée 23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5" name="Connecteur droit 24"/>
            <p:cNvCxnSpPr>
              <a:stCxn id="23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endCxn id="24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Analyse 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19910" y="445870"/>
            <a:ext cx="441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err="1" smtClean="0"/>
              <a:t>Diagramme</a:t>
            </a:r>
            <a:r>
              <a:rPr lang="en-US" sz="1800" dirty="0" smtClean="0"/>
              <a:t> </a:t>
            </a:r>
            <a:r>
              <a:rPr lang="en-US" sz="1800" dirty="0" smtClean="0"/>
              <a:t>d’états</a:t>
            </a:r>
            <a:endParaRPr lang="fr-FR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664" y="704490"/>
            <a:ext cx="3532396" cy="411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7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0" y="89293"/>
            <a:ext cx="9144000" cy="464424"/>
            <a:chOff x="0" y="86220"/>
            <a:chExt cx="9144000" cy="464424"/>
          </a:xfrm>
        </p:grpSpPr>
        <p:sp>
          <p:nvSpPr>
            <p:cNvPr id="23" name="Bouée 22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Bouée 23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5" name="Connecteur droit 24"/>
            <p:cNvCxnSpPr>
              <a:stCxn id="23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endCxn id="24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Analyse 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19910" y="445870"/>
            <a:ext cx="2118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err="1" smtClean="0"/>
              <a:t>Diagramme</a:t>
            </a:r>
            <a:r>
              <a:rPr lang="en-US" sz="1800" dirty="0" smtClean="0"/>
              <a:t> </a:t>
            </a:r>
            <a:r>
              <a:rPr lang="en-US" sz="1800" dirty="0" smtClean="0"/>
              <a:t>des </a:t>
            </a:r>
            <a:r>
              <a:rPr lang="en-US" sz="1800" dirty="0" err="1" smtClean="0"/>
              <a:t>Composants</a:t>
            </a:r>
            <a:endParaRPr lang="fr-FR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022" y="550958"/>
            <a:ext cx="6093330" cy="449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0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0" y="89293"/>
            <a:ext cx="9144000" cy="464424"/>
            <a:chOff x="0" y="86220"/>
            <a:chExt cx="9144000" cy="464424"/>
          </a:xfrm>
        </p:grpSpPr>
        <p:sp>
          <p:nvSpPr>
            <p:cNvPr id="23" name="Bouée 22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Bouée 23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5" name="Connecteur droit 24"/>
            <p:cNvCxnSpPr>
              <a:stCxn id="23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endCxn id="24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Analyse Conceptuelle</a:t>
              </a:r>
              <a:endParaRPr lang="fr-FR" sz="2400" b="1" dirty="0"/>
            </a:p>
          </p:txBody>
        </p:sp>
      </p:grpSp>
      <p:sp>
        <p:nvSpPr>
          <p:cNvPr id="4" name="ZoneTexte 3"/>
          <p:cNvSpPr txBox="1"/>
          <p:nvPr/>
        </p:nvSpPr>
        <p:spPr>
          <a:xfrm>
            <a:off x="19910" y="445870"/>
            <a:ext cx="441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err="1" smtClean="0"/>
              <a:t>Diagramme</a:t>
            </a:r>
            <a:r>
              <a:rPr lang="en-US" sz="1800" dirty="0" smtClean="0"/>
              <a:t> </a:t>
            </a:r>
            <a:r>
              <a:rPr lang="en-US" sz="1800" dirty="0" smtClean="0"/>
              <a:t>de </a:t>
            </a:r>
            <a:r>
              <a:rPr lang="en-US" sz="1800" dirty="0" err="1" smtClean="0"/>
              <a:t>deploiment</a:t>
            </a:r>
            <a:endParaRPr lang="fr-FR" sz="1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10" y="1132508"/>
            <a:ext cx="8724438" cy="257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6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>
            <a:spLocks noGrp="1"/>
          </p:cNvSpPr>
          <p:nvPr>
            <p:ph type="title"/>
          </p:nvPr>
        </p:nvSpPr>
        <p:spPr>
          <a:xfrm>
            <a:off x="6047509" y="2171456"/>
            <a:ext cx="2381391" cy="7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4000" dirty="0" smtClean="0"/>
              <a:t>Outils</a:t>
            </a:r>
            <a:endParaRPr sz="4000" dirty="0"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214781">
            <a:off x="-1317392" y="3719766"/>
            <a:ext cx="7370835" cy="2084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32"/>
          <p:cNvGrpSpPr/>
          <p:nvPr/>
        </p:nvGrpSpPr>
        <p:grpSpPr>
          <a:xfrm>
            <a:off x="1537803" y="1907406"/>
            <a:ext cx="1187108" cy="220801"/>
            <a:chOff x="4592575" y="1091000"/>
            <a:chExt cx="793150" cy="147525"/>
          </a:xfrm>
        </p:grpSpPr>
        <p:sp>
          <p:nvSpPr>
            <p:cNvPr id="388" name="Google Shape;388;p32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7" name="Google Shape;397;p32"/>
          <p:cNvCxnSpPr/>
          <p:nvPr/>
        </p:nvCxnSpPr>
        <p:spPr>
          <a:xfrm rot="10800000">
            <a:off x="4683325" y="3938719"/>
            <a:ext cx="376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8" name="Google Shape;398;p32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1727011" y="2761955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grpSp>
        <p:nvGrpSpPr>
          <p:cNvPr id="19" name="Groupe 18"/>
          <p:cNvGrpSpPr/>
          <p:nvPr/>
        </p:nvGrpSpPr>
        <p:grpSpPr>
          <a:xfrm>
            <a:off x="6836633" y="489897"/>
            <a:ext cx="1478424" cy="1366233"/>
            <a:chOff x="1032461" y="2782495"/>
            <a:chExt cx="544255" cy="518554"/>
          </a:xfrm>
        </p:grpSpPr>
        <p:sp>
          <p:nvSpPr>
            <p:cNvPr id="20" name="Ellipse 19"/>
            <p:cNvSpPr/>
            <p:nvPr/>
          </p:nvSpPr>
          <p:spPr>
            <a:xfrm>
              <a:off x="1045213" y="2782495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1032461" y="2852354"/>
              <a:ext cx="536501" cy="385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b="1" spc="50" dirty="0" smtClean="0">
                  <a:ln w="0">
                    <a:solidFill>
                      <a:srgbClr val="01ACC0"/>
                    </a:solidFill>
                  </a:ln>
                  <a:solidFill>
                    <a:srgbClr val="01ACC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02</a:t>
              </a:r>
              <a:endParaRPr lang="fr-FR" sz="2000" b="1" spc="50" dirty="0">
                <a:ln w="0">
                  <a:solidFill>
                    <a:srgbClr val="01ACC0"/>
                  </a:solidFill>
                </a:ln>
                <a:solidFill>
                  <a:srgbClr val="01ACC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pic>
        <p:nvPicPr>
          <p:cNvPr id="22" name="Imag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0" y="223882"/>
            <a:ext cx="4368801" cy="4169691"/>
          </a:xfrm>
          <a:prstGeom prst="ellipse">
            <a:avLst/>
          </a:prstGeom>
          <a:ln>
            <a:noFill/>
          </a:ln>
          <a:effectLst>
            <a:reflection blurRad="6350" stA="52000" endA="300" endPos="35000" dir="5400000" sy="-100000" algn="bl" rotWithShape="0"/>
            <a:softEdge rad="112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</p:spTree>
    <p:extLst>
      <p:ext uri="{BB962C8B-B14F-4D97-AF65-F5344CB8AC3E}">
        <p14:creationId xmlns:p14="http://schemas.microsoft.com/office/powerpoint/2010/main" val="120543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6"/>
          <p:cNvSpPr txBox="1">
            <a:spLocks noGrp="1"/>
          </p:cNvSpPr>
          <p:nvPr>
            <p:ph type="subTitle" idx="4"/>
          </p:nvPr>
        </p:nvSpPr>
        <p:spPr>
          <a:xfrm>
            <a:off x="248854" y="741894"/>
            <a:ext cx="2870963" cy="5138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 smtClean="0"/>
              <a:t>O</a:t>
            </a:r>
            <a:r>
              <a:rPr lang="en" dirty="0" smtClean="0"/>
              <a:t>util de mod</a:t>
            </a:r>
            <a:r>
              <a:rPr lang="fr-CM" dirty="0" smtClean="0"/>
              <a:t>élisation:</a:t>
            </a:r>
            <a:endParaRPr dirty="0"/>
          </a:p>
        </p:txBody>
      </p:sp>
      <p:grpSp>
        <p:nvGrpSpPr>
          <p:cNvPr id="44" name="Groupe 43"/>
          <p:cNvGrpSpPr/>
          <p:nvPr/>
        </p:nvGrpSpPr>
        <p:grpSpPr>
          <a:xfrm>
            <a:off x="0" y="2009"/>
            <a:ext cx="9144000" cy="464424"/>
            <a:chOff x="0" y="86220"/>
            <a:chExt cx="9144000" cy="464424"/>
          </a:xfrm>
        </p:grpSpPr>
        <p:sp>
          <p:nvSpPr>
            <p:cNvPr id="45" name="Bouée 44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6" name="Bouée 45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47" name="Connecteur droit 46"/>
            <p:cNvCxnSpPr>
              <a:stCxn id="45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>
              <a:endCxn id="46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ZoneTexte 48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 smtClean="0"/>
                <a:t>Outils</a:t>
              </a:r>
              <a:endParaRPr lang="fr-FR" sz="2400" b="1" dirty="0"/>
            </a:p>
          </p:txBody>
        </p:sp>
      </p:grpSp>
      <p:sp>
        <p:nvSpPr>
          <p:cNvPr id="50" name="Google Shape;476;p36"/>
          <p:cNvSpPr txBox="1">
            <a:spLocks/>
          </p:cNvSpPr>
          <p:nvPr/>
        </p:nvSpPr>
        <p:spPr>
          <a:xfrm>
            <a:off x="261340" y="2244158"/>
            <a:ext cx="2656500" cy="53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smtClean="0"/>
              <a:t> Framework</a:t>
            </a:r>
            <a:endParaRPr lang="fr-FR" dirty="0"/>
          </a:p>
        </p:txBody>
      </p:sp>
      <p:sp>
        <p:nvSpPr>
          <p:cNvPr id="55" name="Google Shape;476;p36"/>
          <p:cNvSpPr txBox="1">
            <a:spLocks/>
          </p:cNvSpPr>
          <p:nvPr/>
        </p:nvSpPr>
        <p:spPr>
          <a:xfrm>
            <a:off x="261340" y="1519599"/>
            <a:ext cx="3536655" cy="53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Halant Medium"/>
                <a:ea typeface="Halant Medium"/>
                <a:cs typeface="Halant Medium"/>
                <a:sym typeface="Halant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fr-CM" dirty="0"/>
              <a:t> </a:t>
            </a:r>
            <a:r>
              <a:rPr lang="fr-CM" dirty="0" smtClean="0"/>
              <a:t>Langages de Programmation:</a:t>
            </a:r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144" y="1550349"/>
            <a:ext cx="455292" cy="455292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Imag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8" r="24572" b="6070"/>
          <a:stretch/>
        </p:blipFill>
        <p:spPr>
          <a:xfrm>
            <a:off x="5148925" y="1572555"/>
            <a:ext cx="594973" cy="433086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830" y="2280153"/>
            <a:ext cx="701475" cy="427715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2" name="ZoneTexte 71"/>
          <p:cNvSpPr txBox="1"/>
          <p:nvPr/>
        </p:nvSpPr>
        <p:spPr>
          <a:xfrm>
            <a:off x="295588" y="3150711"/>
            <a:ext cx="4105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Halant Medium" panose="020B0604020202020204" charset="0"/>
                <a:cs typeface="Halant Medium" panose="020B0604020202020204" charset="0"/>
              </a:rPr>
              <a:t>Envirronement de developpement</a:t>
            </a:r>
            <a:endParaRPr lang="fr-FR" sz="1800" dirty="0">
              <a:latin typeface="Halant Medium" panose="020B0604020202020204" charset="0"/>
              <a:cs typeface="Halant Medium" panose="020B0604020202020204" charset="0"/>
            </a:endParaRPr>
          </a:p>
        </p:txBody>
      </p:sp>
      <p:pic>
        <p:nvPicPr>
          <p:cNvPr id="73" name="Image 7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906" y="3046636"/>
            <a:ext cx="598399" cy="488581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910" y="605976"/>
            <a:ext cx="1681947" cy="649766"/>
          </a:xfrm>
          <a:prstGeom prst="rect">
            <a:avLst/>
          </a:prstGeom>
        </p:spPr>
      </p:pic>
      <p:sp>
        <p:nvSpPr>
          <p:cNvPr id="25" name="ZoneTexte 24"/>
          <p:cNvSpPr txBox="1"/>
          <p:nvPr/>
        </p:nvSpPr>
        <p:spPr>
          <a:xfrm>
            <a:off x="295588" y="3943191"/>
            <a:ext cx="4095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Halant Medium" panose="020B0604020202020204" charset="0"/>
                <a:cs typeface="Halant Medium" panose="020B0604020202020204" charset="0"/>
              </a:rPr>
              <a:t>Collaboration</a:t>
            </a:r>
            <a:endParaRPr lang="fr-FR" sz="1800" dirty="0">
              <a:latin typeface="Halant Medium" panose="020B0604020202020204" charset="0"/>
              <a:cs typeface="Halant Medium" panose="020B0604020202020204" charset="0"/>
            </a:endParaRP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746" y="3914209"/>
            <a:ext cx="704359" cy="398314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>
            <a:spLocks noGrp="1"/>
          </p:cNvSpPr>
          <p:nvPr>
            <p:ph type="title"/>
          </p:nvPr>
        </p:nvSpPr>
        <p:spPr>
          <a:xfrm>
            <a:off x="5254043" y="2143561"/>
            <a:ext cx="3191882" cy="7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M" sz="4000" dirty="0" smtClean="0"/>
              <a:t>Maquettes</a:t>
            </a:r>
            <a:endParaRPr sz="4000" dirty="0"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3">
            <a:alphaModFix/>
          </a:blip>
          <a:srcRect l="3998" t="9037" r="8504" b="6338"/>
          <a:stretch/>
        </p:blipFill>
        <p:spPr>
          <a:xfrm rot="2214781">
            <a:off x="-1317392" y="3719766"/>
            <a:ext cx="7370835" cy="2084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32"/>
          <p:cNvGrpSpPr/>
          <p:nvPr/>
        </p:nvGrpSpPr>
        <p:grpSpPr>
          <a:xfrm>
            <a:off x="1537803" y="1907406"/>
            <a:ext cx="1187108" cy="220801"/>
            <a:chOff x="4592575" y="1091000"/>
            <a:chExt cx="793150" cy="147525"/>
          </a:xfrm>
        </p:grpSpPr>
        <p:sp>
          <p:nvSpPr>
            <p:cNvPr id="388" name="Google Shape;388;p32"/>
            <p:cNvSpPr/>
            <p:nvPr/>
          </p:nvSpPr>
          <p:spPr>
            <a:xfrm>
              <a:off x="45925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7820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21" y="1"/>
                    <a:pt x="0" y="346"/>
                    <a:pt x="0" y="741"/>
                  </a:cubicBezTo>
                  <a:cubicBezTo>
                    <a:pt x="0" y="1136"/>
                    <a:pt x="321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970925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2" y="1"/>
                  </a:moveTo>
                  <a:cubicBezTo>
                    <a:pt x="347" y="1"/>
                    <a:pt x="1" y="346"/>
                    <a:pt x="1" y="741"/>
                  </a:cubicBezTo>
                  <a:cubicBezTo>
                    <a:pt x="1" y="1136"/>
                    <a:pt x="347" y="1482"/>
                    <a:pt x="742" y="1482"/>
                  </a:cubicBezTo>
                  <a:cubicBezTo>
                    <a:pt x="1137" y="1482"/>
                    <a:pt x="1482" y="1136"/>
                    <a:pt x="1482" y="741"/>
                  </a:cubicBezTo>
                  <a:cubicBezTo>
                    <a:pt x="1482" y="346"/>
                    <a:pt x="1137" y="1"/>
                    <a:pt x="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5159800" y="1201475"/>
              <a:ext cx="37075" cy="37050"/>
            </a:xfrm>
            <a:custGeom>
              <a:avLst/>
              <a:gdLst/>
              <a:ahLst/>
              <a:cxnLst/>
              <a:rect l="l" t="t" r="r" b="b"/>
              <a:pathLst>
                <a:path w="1483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348675" y="1201475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1"/>
                  </a:moveTo>
                  <a:cubicBezTo>
                    <a:pt x="346" y="1"/>
                    <a:pt x="1" y="346"/>
                    <a:pt x="1" y="741"/>
                  </a:cubicBezTo>
                  <a:cubicBezTo>
                    <a:pt x="1" y="1136"/>
                    <a:pt x="346" y="1482"/>
                    <a:pt x="741" y="1482"/>
                  </a:cubicBezTo>
                  <a:cubicBezTo>
                    <a:pt x="1161" y="1482"/>
                    <a:pt x="1482" y="1136"/>
                    <a:pt x="1482" y="741"/>
                  </a:cubicBezTo>
                  <a:cubicBezTo>
                    <a:pt x="1482" y="346"/>
                    <a:pt x="1161" y="1"/>
                    <a:pt x="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678375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486725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1" y="1136"/>
                    <a:pt x="1481" y="741"/>
                  </a:cubicBezTo>
                  <a:cubicBezTo>
                    <a:pt x="1481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5056725" y="1091000"/>
              <a:ext cx="36450" cy="37050"/>
            </a:xfrm>
            <a:custGeom>
              <a:avLst/>
              <a:gdLst/>
              <a:ahLst/>
              <a:cxnLst/>
              <a:rect l="l" t="t" r="r" b="b"/>
              <a:pathLst>
                <a:path w="1458" h="1482" extrusionOk="0">
                  <a:moveTo>
                    <a:pt x="717" y="0"/>
                  </a:moveTo>
                  <a:cubicBezTo>
                    <a:pt x="322" y="0"/>
                    <a:pt x="1" y="346"/>
                    <a:pt x="1" y="741"/>
                  </a:cubicBezTo>
                  <a:cubicBezTo>
                    <a:pt x="1" y="1136"/>
                    <a:pt x="322" y="1482"/>
                    <a:pt x="717" y="1482"/>
                  </a:cubicBezTo>
                  <a:cubicBezTo>
                    <a:pt x="1136" y="1482"/>
                    <a:pt x="1457" y="1136"/>
                    <a:pt x="1457" y="741"/>
                  </a:cubicBezTo>
                  <a:cubicBezTo>
                    <a:pt x="1457" y="346"/>
                    <a:pt x="1136" y="0"/>
                    <a:pt x="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5245600" y="1091000"/>
              <a:ext cx="37050" cy="37050"/>
            </a:xfrm>
            <a:custGeom>
              <a:avLst/>
              <a:gdLst/>
              <a:ahLst/>
              <a:cxnLst/>
              <a:rect l="l" t="t" r="r" b="b"/>
              <a:pathLst>
                <a:path w="1482" h="1482" extrusionOk="0">
                  <a:moveTo>
                    <a:pt x="741" y="0"/>
                  </a:moveTo>
                  <a:cubicBezTo>
                    <a:pt x="346" y="0"/>
                    <a:pt x="0" y="346"/>
                    <a:pt x="0" y="741"/>
                  </a:cubicBezTo>
                  <a:cubicBezTo>
                    <a:pt x="0" y="1136"/>
                    <a:pt x="346" y="1482"/>
                    <a:pt x="741" y="1482"/>
                  </a:cubicBezTo>
                  <a:cubicBezTo>
                    <a:pt x="1136" y="1482"/>
                    <a:pt x="1482" y="1136"/>
                    <a:pt x="1482" y="741"/>
                  </a:cubicBezTo>
                  <a:cubicBezTo>
                    <a:pt x="1482" y="346"/>
                    <a:pt x="1136" y="0"/>
                    <a:pt x="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7" name="Google Shape;397;p32"/>
          <p:cNvCxnSpPr/>
          <p:nvPr/>
        </p:nvCxnSpPr>
        <p:spPr>
          <a:xfrm rot="10800000">
            <a:off x="4683325" y="3938719"/>
            <a:ext cx="376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8" name="Google Shape;398;p32"/>
          <p:cNvPicPr preferRelativeResize="0"/>
          <p:nvPr/>
        </p:nvPicPr>
        <p:blipFill rotWithShape="1">
          <a:blip r:embed="rId4">
            <a:alphaModFix/>
          </a:blip>
          <a:srcRect l="11534" t="10354" r="12679"/>
          <a:stretch/>
        </p:blipFill>
        <p:spPr>
          <a:xfrm>
            <a:off x="1727011" y="2761955"/>
            <a:ext cx="1187100" cy="12558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71986" y="-206121"/>
            <a:ext cx="6109005" cy="49683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9" name="Groupe 18"/>
          <p:cNvGrpSpPr/>
          <p:nvPr/>
        </p:nvGrpSpPr>
        <p:grpSpPr>
          <a:xfrm>
            <a:off x="7101556" y="541173"/>
            <a:ext cx="1478424" cy="1366233"/>
            <a:chOff x="1032461" y="2782495"/>
            <a:chExt cx="544255" cy="518554"/>
          </a:xfrm>
        </p:grpSpPr>
        <p:sp>
          <p:nvSpPr>
            <p:cNvPr id="20" name="Ellipse 19"/>
            <p:cNvSpPr/>
            <p:nvPr/>
          </p:nvSpPr>
          <p:spPr>
            <a:xfrm>
              <a:off x="1045213" y="2782495"/>
              <a:ext cx="531503" cy="518554"/>
            </a:xfrm>
            <a:prstGeom prst="ellipse">
              <a:avLst/>
            </a:prstGeom>
            <a:solidFill>
              <a:schemeClr val="accent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1032461" y="2852354"/>
              <a:ext cx="536501" cy="385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b="1" spc="50" dirty="0" smtClean="0">
                  <a:ln w="0">
                    <a:solidFill>
                      <a:srgbClr val="00B050"/>
                    </a:solidFill>
                  </a:ln>
                  <a:solidFill>
                    <a:srgbClr val="00B050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03</a:t>
              </a:r>
              <a:endParaRPr lang="fr-FR" sz="2000" b="1" spc="50" dirty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23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e 43"/>
          <p:cNvGrpSpPr/>
          <p:nvPr/>
        </p:nvGrpSpPr>
        <p:grpSpPr>
          <a:xfrm>
            <a:off x="0" y="2009"/>
            <a:ext cx="9144000" cy="464424"/>
            <a:chOff x="0" y="86220"/>
            <a:chExt cx="9144000" cy="464424"/>
          </a:xfrm>
        </p:grpSpPr>
        <p:sp>
          <p:nvSpPr>
            <p:cNvPr id="45" name="Bouée 44"/>
            <p:cNvSpPr/>
            <p:nvPr/>
          </p:nvSpPr>
          <p:spPr>
            <a:xfrm>
              <a:off x="2323206" y="125491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6" name="Bouée 45"/>
            <p:cNvSpPr/>
            <p:nvPr/>
          </p:nvSpPr>
          <p:spPr>
            <a:xfrm>
              <a:off x="6089073" y="139036"/>
              <a:ext cx="375816" cy="411608"/>
            </a:xfrm>
            <a:prstGeom prst="donu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47" name="Connecteur droit 46"/>
            <p:cNvCxnSpPr>
              <a:stCxn id="45" idx="2"/>
            </p:cNvCxnSpPr>
            <p:nvPr/>
          </p:nvCxnSpPr>
          <p:spPr>
            <a:xfrm flipH="1">
              <a:off x="0" y="331295"/>
              <a:ext cx="23232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>
              <a:endCxn id="46" idx="6"/>
            </p:cNvCxnSpPr>
            <p:nvPr/>
          </p:nvCxnSpPr>
          <p:spPr>
            <a:xfrm flipH="1">
              <a:off x="6464889" y="331295"/>
              <a:ext cx="2679111" cy="135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ZoneTexte 48"/>
            <p:cNvSpPr txBox="1"/>
            <p:nvPr/>
          </p:nvSpPr>
          <p:spPr>
            <a:xfrm>
              <a:off x="2699022" y="86220"/>
              <a:ext cx="33900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 smtClean="0"/>
                <a:t>Maquettes</a:t>
              </a:r>
              <a:endParaRPr lang="fr-FR" sz="2400" b="1" dirty="0"/>
            </a:p>
          </p:txBody>
        </p:sp>
      </p:grp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233" y="516490"/>
            <a:ext cx="3803794" cy="101214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6"/>
          <a:stretch/>
        </p:blipFill>
        <p:spPr>
          <a:xfrm>
            <a:off x="121969" y="1578687"/>
            <a:ext cx="6062524" cy="344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5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47"/>
          <p:cNvPicPr preferRelativeResize="0"/>
          <p:nvPr/>
        </p:nvPicPr>
        <p:blipFill rotWithShape="1">
          <a:blip r:embed="rId3">
            <a:alphaModFix/>
          </a:blip>
          <a:srcRect l="3193" t="7138" r="8098" b="5380"/>
          <a:stretch/>
        </p:blipFill>
        <p:spPr>
          <a:xfrm rot="1748394">
            <a:off x="-1869006" y="3129379"/>
            <a:ext cx="6333635" cy="1828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424" y="2014569"/>
            <a:ext cx="5376961" cy="254003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Relaxed"/>
            <a:lightRig rig="threePt" dir="t">
              <a:rot lat="0" lon="0" rev="2700000"/>
            </a:lightRig>
          </a:scene3d>
          <a:sp3d>
            <a:bevelT w="63500" h="50800" prst="cross"/>
          </a:sp3d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111" y="278462"/>
            <a:ext cx="3898051" cy="3472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ediatric Burns Treatment Medical Center by Slidesgo">
  <a:themeElements>
    <a:clrScheme name="Simple Light">
      <a:dk1>
        <a:srgbClr val="0F090A"/>
      </a:dk1>
      <a:lt1>
        <a:srgbClr val="F0F6ED"/>
      </a:lt1>
      <a:dk2>
        <a:srgbClr val="46A599"/>
      </a:dk2>
      <a:lt2>
        <a:srgbClr val="8FC3B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F09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accent1"/>
          </a:solidFill>
        </a:ln>
      </a:spPr>
      <a:bodyPr rtlCol="0" anchor="ctr"/>
      <a:lstStyle>
        <a:defPPr algn="ctr">
          <a:defRPr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12449</TotalTime>
  <Words>596</Words>
  <Application>Microsoft Office PowerPoint</Application>
  <PresentationFormat>Affichage à l'écran (16:9)</PresentationFormat>
  <Paragraphs>105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6" baseType="lpstr">
      <vt:lpstr>Platypi Medium</vt:lpstr>
      <vt:lpstr>Arial</vt:lpstr>
      <vt:lpstr>Gudea</vt:lpstr>
      <vt:lpstr>Wingdings</vt:lpstr>
      <vt:lpstr>Halant Medium</vt:lpstr>
      <vt:lpstr>Halant SemiBold</vt:lpstr>
      <vt:lpstr>Times New Roman</vt:lpstr>
      <vt:lpstr>Raleway</vt:lpstr>
      <vt:lpstr>Pediatric Burns Treatment Medical Center by Slidesgo</vt:lpstr>
      <vt:lpstr>Présentation PowerPoint</vt:lpstr>
      <vt:lpstr>Présentation PowerPoint</vt:lpstr>
      <vt:lpstr>Analyse Conceptuelle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Outils</vt:lpstr>
      <vt:lpstr>Présentation PowerPoint</vt:lpstr>
      <vt:lpstr>Maquettes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Pediatric Burns Treatment Medical Center</dc:title>
  <dc:creator>CHOWUINOU TEGUIA</dc:creator>
  <cp:lastModifiedBy>Alphred TATONG</cp:lastModifiedBy>
  <cp:revision>94</cp:revision>
  <dcterms:modified xsi:type="dcterms:W3CDTF">2025-08-04T09:23:17Z</dcterms:modified>
</cp:coreProperties>
</file>