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64" r:id="rId4"/>
    <p:sldId id="259" r:id="rId5"/>
    <p:sldId id="260" r:id="rId6"/>
    <p:sldId id="273" r:id="rId7"/>
    <p:sldId id="279" r:id="rId8"/>
    <p:sldId id="271" r:id="rId9"/>
    <p:sldId id="263" r:id="rId10"/>
    <p:sldId id="281" r:id="rId11"/>
    <p:sldId id="276" r:id="rId12"/>
    <p:sldId id="282" r:id="rId13"/>
    <p:sldId id="270" r:id="rId14"/>
    <p:sldId id="277" r:id="rId15"/>
    <p:sldId id="283" r:id="rId16"/>
    <p:sldId id="274" r:id="rId17"/>
  </p:sldIdLst>
  <p:sldSz cx="9144000" cy="5143500" type="screen16x9"/>
  <p:notesSz cx="6858000" cy="9144000"/>
  <p:embeddedFontLst>
    <p:embeddedFont>
      <p:font typeface="Platypi Medium" panose="020B0604020202020204" charset="0"/>
      <p:regular r:id="rId20"/>
    </p:embeddedFont>
    <p:embeddedFont>
      <p:font typeface="Gudea" panose="020B0604020202020204" charset="0"/>
      <p:regular r:id="rId21"/>
      <p:bold r:id="rId22"/>
      <p:italic r:id="rId23"/>
    </p:embeddedFont>
    <p:embeddedFont>
      <p:font typeface="Halant Medium" panose="020B0604020202020204" charset="0"/>
      <p:regular r:id="rId24"/>
      <p:bold r:id="rId25"/>
    </p:embeddedFont>
    <p:embeddedFont>
      <p:font typeface="Halant SemiBold" panose="020B0604020202020204" charset="0"/>
      <p:regular r:id="rId26"/>
      <p:bold r:id="rId27"/>
    </p:embeddedFont>
    <p:embeddedFont>
      <p:font typeface="Ralew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CC0"/>
    <a:srgbClr val="FCC52A"/>
    <a:srgbClr val="EA6A1F"/>
    <a:srgbClr val="FCB319"/>
    <a:srgbClr val="C03995"/>
    <a:srgbClr val="891313"/>
    <a:srgbClr val="B5D8CD"/>
    <a:srgbClr val="D8E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76F517-DD63-4AC9-8623-2DE87BC0A1ED}">
  <a:tblStyle styleId="{7276F517-DD63-4AC9-8623-2DE87BC0A1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6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ABC6F-191C-4876-829E-7C316D01449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smtClean="0"/>
              <a:t>Rédigé et présenté par :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23B86-370F-4296-A58B-5168577AEC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61121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765167"/>
      </p:ext>
    </p:extLst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367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256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e7bf6ad70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e7bf6ad70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548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41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375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1e375b9f55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11e375b9f55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219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088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1e375b9f5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11e375b9f5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361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e7bf6ad70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e7bf6ad70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554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9026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e7bf6ad707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e7bf6ad707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489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8651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1360713c04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11360713c04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529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807316bfb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807316bfb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4371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807316bfb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807316bfb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1315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1360713c04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1360713c04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6324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1409400"/>
            <a:ext cx="7463400" cy="18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3734100"/>
            <a:ext cx="24147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3700550" y="4861650"/>
            <a:ext cx="1367775" cy="101850"/>
            <a:chOff x="1180575" y="2984650"/>
            <a:chExt cx="1367775" cy="101850"/>
          </a:xfrm>
        </p:grpSpPr>
        <p:sp>
          <p:nvSpPr>
            <p:cNvPr id="13" name="Google Shape;13;p2"/>
            <p:cNvSpPr/>
            <p:nvPr/>
          </p:nvSpPr>
          <p:spPr>
            <a:xfrm>
              <a:off x="1180575" y="2984650"/>
              <a:ext cx="101850" cy="101850"/>
            </a:xfrm>
            <a:custGeom>
              <a:avLst/>
              <a:gdLst/>
              <a:ahLst/>
              <a:cxnLst/>
              <a:rect l="l" t="t" r="r" b="b"/>
              <a:pathLst>
                <a:path w="4074" h="4074" extrusionOk="0">
                  <a:moveTo>
                    <a:pt x="2024" y="0"/>
                  </a:moveTo>
                  <a:cubicBezTo>
                    <a:pt x="889" y="0"/>
                    <a:pt x="0" y="914"/>
                    <a:pt x="0" y="2025"/>
                  </a:cubicBezTo>
                  <a:cubicBezTo>
                    <a:pt x="0" y="3160"/>
                    <a:pt x="913" y="4074"/>
                    <a:pt x="2024" y="4074"/>
                  </a:cubicBezTo>
                  <a:cubicBezTo>
                    <a:pt x="3160" y="4074"/>
                    <a:pt x="4074" y="3136"/>
                    <a:pt x="4074" y="2025"/>
                  </a:cubicBezTo>
                  <a:cubicBezTo>
                    <a:pt x="4074" y="914"/>
                    <a:pt x="3160" y="0"/>
                    <a:pt x="20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496575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50" y="0"/>
                  </a:moveTo>
                  <a:cubicBezTo>
                    <a:pt x="890" y="0"/>
                    <a:pt x="1" y="914"/>
                    <a:pt x="1" y="2025"/>
                  </a:cubicBezTo>
                  <a:cubicBezTo>
                    <a:pt x="1" y="3160"/>
                    <a:pt x="939" y="4074"/>
                    <a:pt x="2050" y="4074"/>
                  </a:cubicBezTo>
                  <a:cubicBezTo>
                    <a:pt x="3186" y="4074"/>
                    <a:pt x="4074" y="3136"/>
                    <a:pt x="4074" y="2025"/>
                  </a:cubicBezTo>
                  <a:cubicBezTo>
                    <a:pt x="4074" y="914"/>
                    <a:pt x="3186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13825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25" y="0"/>
                  </a:moveTo>
                  <a:cubicBezTo>
                    <a:pt x="890" y="0"/>
                    <a:pt x="1" y="914"/>
                    <a:pt x="1" y="2025"/>
                  </a:cubicBezTo>
                  <a:cubicBezTo>
                    <a:pt x="1" y="3160"/>
                    <a:pt x="914" y="4074"/>
                    <a:pt x="2025" y="4074"/>
                  </a:cubicBezTo>
                  <a:cubicBezTo>
                    <a:pt x="3186" y="4074"/>
                    <a:pt x="4075" y="3136"/>
                    <a:pt x="4075" y="2025"/>
                  </a:cubicBezTo>
                  <a:cubicBezTo>
                    <a:pt x="4075" y="914"/>
                    <a:pt x="3136" y="0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129850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50" y="0"/>
                  </a:moveTo>
                  <a:cubicBezTo>
                    <a:pt x="914" y="0"/>
                    <a:pt x="1" y="914"/>
                    <a:pt x="1" y="2025"/>
                  </a:cubicBezTo>
                  <a:cubicBezTo>
                    <a:pt x="1" y="3160"/>
                    <a:pt x="939" y="4074"/>
                    <a:pt x="2050" y="4074"/>
                  </a:cubicBezTo>
                  <a:cubicBezTo>
                    <a:pt x="3186" y="4074"/>
                    <a:pt x="4074" y="3136"/>
                    <a:pt x="4074" y="2025"/>
                  </a:cubicBezTo>
                  <a:cubicBezTo>
                    <a:pt x="4074" y="914"/>
                    <a:pt x="3161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446500" y="2984650"/>
              <a:ext cx="101850" cy="101850"/>
            </a:xfrm>
            <a:custGeom>
              <a:avLst/>
              <a:gdLst/>
              <a:ahLst/>
              <a:cxnLst/>
              <a:rect l="l" t="t" r="r" b="b"/>
              <a:pathLst>
                <a:path w="4074" h="4074" extrusionOk="0">
                  <a:moveTo>
                    <a:pt x="2025" y="0"/>
                  </a:moveTo>
                  <a:cubicBezTo>
                    <a:pt x="889" y="0"/>
                    <a:pt x="0" y="914"/>
                    <a:pt x="0" y="2025"/>
                  </a:cubicBezTo>
                  <a:cubicBezTo>
                    <a:pt x="0" y="3160"/>
                    <a:pt x="914" y="4074"/>
                    <a:pt x="2025" y="4074"/>
                  </a:cubicBezTo>
                  <a:cubicBezTo>
                    <a:pt x="3185" y="4074"/>
                    <a:pt x="4074" y="3136"/>
                    <a:pt x="4074" y="2025"/>
                  </a:cubicBezTo>
                  <a:cubicBezTo>
                    <a:pt x="4074" y="914"/>
                    <a:pt x="3185" y="0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380100" y="2171456"/>
            <a:ext cx="40488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7311400" y="1204781"/>
            <a:ext cx="1117500" cy="8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/>
          <p:nvPr/>
        </p:nvSpPr>
        <p:spPr>
          <a:xfrm>
            <a:off x="8622483" y="309850"/>
            <a:ext cx="1026785" cy="131349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159275" y="-353275"/>
            <a:ext cx="1026800" cy="108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 flipH="1">
            <a:off x="-46900" y="-63625"/>
            <a:ext cx="9304601" cy="520712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-1334775" y="4188925"/>
            <a:ext cx="1806596" cy="954579"/>
          </a:xfrm>
          <a:custGeom>
            <a:avLst/>
            <a:gdLst/>
            <a:ahLst/>
            <a:cxnLst/>
            <a:rect l="l" t="t" r="r" b="b"/>
            <a:pathLst>
              <a:path w="44812" h="23678" extrusionOk="0">
                <a:moveTo>
                  <a:pt x="32985" y="618"/>
                </a:moveTo>
                <a:cubicBezTo>
                  <a:pt x="39157" y="618"/>
                  <a:pt x="44194" y="5655"/>
                  <a:pt x="44194" y="11852"/>
                </a:cubicBezTo>
                <a:cubicBezTo>
                  <a:pt x="44194" y="18024"/>
                  <a:pt x="39157" y="23060"/>
                  <a:pt x="32985" y="23060"/>
                </a:cubicBezTo>
                <a:lnTo>
                  <a:pt x="618" y="23060"/>
                </a:lnTo>
                <a:lnTo>
                  <a:pt x="618" y="618"/>
                </a:lnTo>
                <a:close/>
                <a:moveTo>
                  <a:pt x="1" y="1"/>
                </a:moveTo>
                <a:lnTo>
                  <a:pt x="1" y="23678"/>
                </a:lnTo>
                <a:lnTo>
                  <a:pt x="32985" y="23678"/>
                </a:lnTo>
                <a:cubicBezTo>
                  <a:pt x="39503" y="23678"/>
                  <a:pt x="44811" y="18370"/>
                  <a:pt x="44811" y="11827"/>
                </a:cubicBezTo>
                <a:cubicBezTo>
                  <a:pt x="44811" y="5309"/>
                  <a:pt x="39503" y="1"/>
                  <a:pt x="329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8517400" y="393064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grpSp>
        <p:nvGrpSpPr>
          <p:cNvPr id="54" name="Google Shape;54;p6"/>
          <p:cNvGrpSpPr/>
          <p:nvPr/>
        </p:nvGrpSpPr>
        <p:grpSpPr>
          <a:xfrm rot="-5400000">
            <a:off x="8177146" y="4294480"/>
            <a:ext cx="1187108" cy="220801"/>
            <a:chOff x="4592575" y="1091000"/>
            <a:chExt cx="793150" cy="147525"/>
          </a:xfrm>
        </p:grpSpPr>
        <p:sp>
          <p:nvSpPr>
            <p:cNvPr id="55" name="Google Shape;55;p6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46900" y="-63625"/>
            <a:ext cx="9304601" cy="520712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717600" y="1367400"/>
            <a:ext cx="373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717600" y="2039400"/>
            <a:ext cx="3733200" cy="17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>
            <a:spLocks noGrp="1"/>
          </p:cNvSpPr>
          <p:nvPr>
            <p:ph type="pic" idx="2"/>
          </p:nvPr>
        </p:nvSpPr>
        <p:spPr>
          <a:xfrm>
            <a:off x="4749900" y="733500"/>
            <a:ext cx="3676500" cy="3676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7"/>
          <p:cNvSpPr/>
          <p:nvPr/>
        </p:nvSpPr>
        <p:spPr>
          <a:xfrm rot="-5400000">
            <a:off x="-665475" y="4510938"/>
            <a:ext cx="1806596" cy="954579"/>
          </a:xfrm>
          <a:custGeom>
            <a:avLst/>
            <a:gdLst/>
            <a:ahLst/>
            <a:cxnLst/>
            <a:rect l="l" t="t" r="r" b="b"/>
            <a:pathLst>
              <a:path w="44812" h="23678" extrusionOk="0">
                <a:moveTo>
                  <a:pt x="32985" y="618"/>
                </a:moveTo>
                <a:cubicBezTo>
                  <a:pt x="39157" y="618"/>
                  <a:pt x="44194" y="5655"/>
                  <a:pt x="44194" y="11852"/>
                </a:cubicBezTo>
                <a:cubicBezTo>
                  <a:pt x="44194" y="18024"/>
                  <a:pt x="39157" y="23060"/>
                  <a:pt x="32985" y="23060"/>
                </a:cubicBezTo>
                <a:lnTo>
                  <a:pt x="618" y="23060"/>
                </a:lnTo>
                <a:lnTo>
                  <a:pt x="618" y="618"/>
                </a:lnTo>
                <a:close/>
                <a:moveTo>
                  <a:pt x="1" y="1"/>
                </a:moveTo>
                <a:lnTo>
                  <a:pt x="1" y="23678"/>
                </a:lnTo>
                <a:lnTo>
                  <a:pt x="32985" y="23678"/>
                </a:lnTo>
                <a:cubicBezTo>
                  <a:pt x="39503" y="23678"/>
                  <a:pt x="44811" y="18370"/>
                  <a:pt x="44811" y="11827"/>
                </a:cubicBezTo>
                <a:cubicBezTo>
                  <a:pt x="44811" y="5309"/>
                  <a:pt x="39503" y="1"/>
                  <a:pt x="329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267363" y="23517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7"/>
          <p:cNvGrpSpPr/>
          <p:nvPr/>
        </p:nvGrpSpPr>
        <p:grpSpPr>
          <a:xfrm>
            <a:off x="1088525" y="4861650"/>
            <a:ext cx="1367775" cy="101850"/>
            <a:chOff x="1180575" y="2984650"/>
            <a:chExt cx="1367775" cy="101850"/>
          </a:xfrm>
        </p:grpSpPr>
        <p:sp>
          <p:nvSpPr>
            <p:cNvPr id="72" name="Google Shape;72;p7"/>
            <p:cNvSpPr/>
            <p:nvPr/>
          </p:nvSpPr>
          <p:spPr>
            <a:xfrm>
              <a:off x="1180575" y="2984650"/>
              <a:ext cx="101850" cy="101850"/>
            </a:xfrm>
            <a:custGeom>
              <a:avLst/>
              <a:gdLst/>
              <a:ahLst/>
              <a:cxnLst/>
              <a:rect l="l" t="t" r="r" b="b"/>
              <a:pathLst>
                <a:path w="4074" h="4074" extrusionOk="0">
                  <a:moveTo>
                    <a:pt x="2024" y="0"/>
                  </a:moveTo>
                  <a:cubicBezTo>
                    <a:pt x="889" y="0"/>
                    <a:pt x="0" y="914"/>
                    <a:pt x="0" y="2025"/>
                  </a:cubicBezTo>
                  <a:cubicBezTo>
                    <a:pt x="0" y="3160"/>
                    <a:pt x="913" y="4074"/>
                    <a:pt x="2024" y="4074"/>
                  </a:cubicBezTo>
                  <a:cubicBezTo>
                    <a:pt x="3160" y="4074"/>
                    <a:pt x="4074" y="3136"/>
                    <a:pt x="4074" y="2025"/>
                  </a:cubicBezTo>
                  <a:cubicBezTo>
                    <a:pt x="4074" y="914"/>
                    <a:pt x="3160" y="0"/>
                    <a:pt x="20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1496575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50" y="0"/>
                  </a:moveTo>
                  <a:cubicBezTo>
                    <a:pt x="890" y="0"/>
                    <a:pt x="1" y="914"/>
                    <a:pt x="1" y="2025"/>
                  </a:cubicBezTo>
                  <a:cubicBezTo>
                    <a:pt x="1" y="3160"/>
                    <a:pt x="939" y="4074"/>
                    <a:pt x="2050" y="4074"/>
                  </a:cubicBezTo>
                  <a:cubicBezTo>
                    <a:pt x="3186" y="4074"/>
                    <a:pt x="4074" y="3136"/>
                    <a:pt x="4074" y="2025"/>
                  </a:cubicBezTo>
                  <a:cubicBezTo>
                    <a:pt x="4074" y="914"/>
                    <a:pt x="3186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1813825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25" y="0"/>
                  </a:moveTo>
                  <a:cubicBezTo>
                    <a:pt x="890" y="0"/>
                    <a:pt x="1" y="914"/>
                    <a:pt x="1" y="2025"/>
                  </a:cubicBezTo>
                  <a:cubicBezTo>
                    <a:pt x="1" y="3160"/>
                    <a:pt x="914" y="4074"/>
                    <a:pt x="2025" y="4074"/>
                  </a:cubicBezTo>
                  <a:cubicBezTo>
                    <a:pt x="3186" y="4074"/>
                    <a:pt x="4075" y="3136"/>
                    <a:pt x="4075" y="2025"/>
                  </a:cubicBezTo>
                  <a:cubicBezTo>
                    <a:pt x="4075" y="914"/>
                    <a:pt x="3136" y="0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2129850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50" y="0"/>
                  </a:moveTo>
                  <a:cubicBezTo>
                    <a:pt x="914" y="0"/>
                    <a:pt x="1" y="914"/>
                    <a:pt x="1" y="2025"/>
                  </a:cubicBezTo>
                  <a:cubicBezTo>
                    <a:pt x="1" y="3160"/>
                    <a:pt x="939" y="4074"/>
                    <a:pt x="2050" y="4074"/>
                  </a:cubicBezTo>
                  <a:cubicBezTo>
                    <a:pt x="3186" y="4074"/>
                    <a:pt x="4074" y="3136"/>
                    <a:pt x="4074" y="2025"/>
                  </a:cubicBezTo>
                  <a:cubicBezTo>
                    <a:pt x="4074" y="914"/>
                    <a:pt x="3161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446500" y="2984650"/>
              <a:ext cx="101850" cy="101850"/>
            </a:xfrm>
            <a:custGeom>
              <a:avLst/>
              <a:gdLst/>
              <a:ahLst/>
              <a:cxnLst/>
              <a:rect l="l" t="t" r="r" b="b"/>
              <a:pathLst>
                <a:path w="4074" h="4074" extrusionOk="0">
                  <a:moveTo>
                    <a:pt x="2025" y="0"/>
                  </a:moveTo>
                  <a:cubicBezTo>
                    <a:pt x="889" y="0"/>
                    <a:pt x="0" y="914"/>
                    <a:pt x="0" y="2025"/>
                  </a:cubicBezTo>
                  <a:cubicBezTo>
                    <a:pt x="0" y="3160"/>
                    <a:pt x="914" y="4074"/>
                    <a:pt x="2025" y="4074"/>
                  </a:cubicBezTo>
                  <a:cubicBezTo>
                    <a:pt x="3185" y="4074"/>
                    <a:pt x="4074" y="3136"/>
                    <a:pt x="4074" y="2025"/>
                  </a:cubicBezTo>
                  <a:cubicBezTo>
                    <a:pt x="4074" y="914"/>
                    <a:pt x="3185" y="0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409100" y="280895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8"/>
          <p:cNvGrpSpPr/>
          <p:nvPr/>
        </p:nvGrpSpPr>
        <p:grpSpPr>
          <a:xfrm>
            <a:off x="7532821" y="4572341"/>
            <a:ext cx="1187108" cy="220801"/>
            <a:chOff x="4592575" y="1091000"/>
            <a:chExt cx="793150" cy="147525"/>
          </a:xfrm>
        </p:grpSpPr>
        <p:sp>
          <p:nvSpPr>
            <p:cNvPr id="82" name="Google Shape;82;p8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 flipH="1"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95" name="Google Shape;95;p9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165825" y="231738"/>
            <a:ext cx="493125" cy="5216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4">
            <a:alphaModFix/>
          </a:blip>
          <a:srcRect t="4228" r="13726" b="5224"/>
          <a:stretch/>
        </p:blipFill>
        <p:spPr>
          <a:xfrm rot="1928105">
            <a:off x="8210875" y="3407175"/>
            <a:ext cx="2709351" cy="19101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 rot="-5400000">
            <a:off x="8211050" y="4510938"/>
            <a:ext cx="1806596" cy="954579"/>
          </a:xfrm>
          <a:custGeom>
            <a:avLst/>
            <a:gdLst/>
            <a:ahLst/>
            <a:cxnLst/>
            <a:rect l="l" t="t" r="r" b="b"/>
            <a:pathLst>
              <a:path w="44812" h="23678" extrusionOk="0">
                <a:moveTo>
                  <a:pt x="32985" y="618"/>
                </a:moveTo>
                <a:cubicBezTo>
                  <a:pt x="39157" y="618"/>
                  <a:pt x="44194" y="5655"/>
                  <a:pt x="44194" y="11852"/>
                </a:cubicBezTo>
                <a:cubicBezTo>
                  <a:pt x="44194" y="18024"/>
                  <a:pt x="39157" y="23060"/>
                  <a:pt x="32985" y="23060"/>
                </a:cubicBezTo>
                <a:lnTo>
                  <a:pt x="618" y="23060"/>
                </a:lnTo>
                <a:lnTo>
                  <a:pt x="618" y="618"/>
                </a:lnTo>
                <a:close/>
                <a:moveTo>
                  <a:pt x="1" y="1"/>
                </a:moveTo>
                <a:lnTo>
                  <a:pt x="1" y="23678"/>
                </a:lnTo>
                <a:lnTo>
                  <a:pt x="32985" y="23678"/>
                </a:lnTo>
                <a:cubicBezTo>
                  <a:pt x="39503" y="23678"/>
                  <a:pt x="44811" y="18370"/>
                  <a:pt x="44811" y="11827"/>
                </a:cubicBezTo>
                <a:cubicBezTo>
                  <a:pt x="44811" y="5309"/>
                  <a:pt x="39503" y="1"/>
                  <a:pt x="329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3452" y="0"/>
            <a:ext cx="91909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2" hasCustomPrompt="1"/>
          </p:nvPr>
        </p:nvSpPr>
        <p:spPr>
          <a:xfrm>
            <a:off x="829273" y="1649137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3" hasCustomPrompt="1"/>
          </p:nvPr>
        </p:nvSpPr>
        <p:spPr>
          <a:xfrm>
            <a:off x="829273" y="3082545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4" hasCustomPrompt="1"/>
          </p:nvPr>
        </p:nvSpPr>
        <p:spPr>
          <a:xfrm>
            <a:off x="3493586" y="1649137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3493586" y="3082545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6157898" y="1649137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6157898" y="3082545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"/>
          </p:nvPr>
        </p:nvSpPr>
        <p:spPr>
          <a:xfrm>
            <a:off x="719975" y="2187828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8"/>
          </p:nvPr>
        </p:nvSpPr>
        <p:spPr>
          <a:xfrm>
            <a:off x="3384275" y="2187828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9"/>
          </p:nvPr>
        </p:nvSpPr>
        <p:spPr>
          <a:xfrm>
            <a:off x="6048600" y="2187828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3"/>
          </p:nvPr>
        </p:nvSpPr>
        <p:spPr>
          <a:xfrm>
            <a:off x="719975" y="3621303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4"/>
          </p:nvPr>
        </p:nvSpPr>
        <p:spPr>
          <a:xfrm>
            <a:off x="3384275" y="3621303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15"/>
          </p:nvPr>
        </p:nvSpPr>
        <p:spPr>
          <a:xfrm>
            <a:off x="6048600" y="3621303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26" name="Google Shape;126;p13"/>
          <p:cNvPicPr preferRelativeResize="0"/>
          <p:nvPr/>
        </p:nvPicPr>
        <p:blipFill rotWithShape="1">
          <a:blip r:embed="rId3">
            <a:alphaModFix/>
          </a:blip>
          <a:srcRect t="4228" r="13726" b="5224"/>
          <a:stretch/>
        </p:blipFill>
        <p:spPr>
          <a:xfrm>
            <a:off x="8078425" y="-223675"/>
            <a:ext cx="2709350" cy="1910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3"/>
          <p:cNvGrpSpPr/>
          <p:nvPr/>
        </p:nvGrpSpPr>
        <p:grpSpPr>
          <a:xfrm rot="866521" flipH="1">
            <a:off x="-428717" y="4187779"/>
            <a:ext cx="2815798" cy="1670299"/>
            <a:chOff x="3129750" y="1771725"/>
            <a:chExt cx="2815800" cy="1670300"/>
          </a:xfrm>
        </p:grpSpPr>
        <p:sp>
          <p:nvSpPr>
            <p:cNvPr id="128" name="Google Shape;128;p13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>
            <a:spLocks noGrp="1"/>
          </p:cNvSpPr>
          <p:nvPr>
            <p:ph type="subTitle" idx="1"/>
          </p:nvPr>
        </p:nvSpPr>
        <p:spPr>
          <a:xfrm>
            <a:off x="720000" y="2537625"/>
            <a:ext cx="33765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>
            <a:spLocks noGrp="1"/>
          </p:cNvSpPr>
          <p:nvPr>
            <p:ph type="pic" idx="2"/>
          </p:nvPr>
        </p:nvSpPr>
        <p:spPr>
          <a:xfrm>
            <a:off x="6998068" y="-11507"/>
            <a:ext cx="2172900" cy="2291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720000" y="1896700"/>
            <a:ext cx="337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>
            <a:spLocks noGrp="1"/>
          </p:cNvSpPr>
          <p:nvPr>
            <p:ph type="pic" idx="3"/>
          </p:nvPr>
        </p:nvSpPr>
        <p:spPr>
          <a:xfrm>
            <a:off x="4669768" y="2416400"/>
            <a:ext cx="4501200" cy="2727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5"/>
          <p:cNvSpPr>
            <a:spLocks noGrp="1"/>
          </p:cNvSpPr>
          <p:nvPr>
            <p:ph type="pic" idx="4"/>
          </p:nvPr>
        </p:nvSpPr>
        <p:spPr>
          <a:xfrm>
            <a:off x="4669768" y="-11507"/>
            <a:ext cx="2172900" cy="2291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9" name="Google Shape;149;p15"/>
          <p:cNvGrpSpPr/>
          <p:nvPr/>
        </p:nvGrpSpPr>
        <p:grpSpPr>
          <a:xfrm rot="-5400000">
            <a:off x="-360854" y="1090005"/>
            <a:ext cx="1187108" cy="220801"/>
            <a:chOff x="4592575" y="1091000"/>
            <a:chExt cx="793150" cy="147525"/>
          </a:xfrm>
        </p:grpSpPr>
        <p:sp>
          <p:nvSpPr>
            <p:cNvPr id="150" name="Google Shape;150;p15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-319750" y="61344"/>
            <a:ext cx="895474" cy="94731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46900" y="-63625"/>
            <a:ext cx="9304601" cy="52071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15088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15100" y="10177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64" name="Google Shape;164;p16"/>
          <p:cNvGrpSpPr/>
          <p:nvPr/>
        </p:nvGrpSpPr>
        <p:grpSpPr>
          <a:xfrm>
            <a:off x="8621802" y="4170067"/>
            <a:ext cx="1367709" cy="1406162"/>
            <a:chOff x="6055400" y="1590325"/>
            <a:chExt cx="1624550" cy="1670225"/>
          </a:xfrm>
        </p:grpSpPr>
        <p:sp>
          <p:nvSpPr>
            <p:cNvPr id="165" name="Google Shape;165;p16"/>
            <p:cNvSpPr/>
            <p:nvPr/>
          </p:nvSpPr>
          <p:spPr>
            <a:xfrm>
              <a:off x="6324500" y="1814375"/>
              <a:ext cx="22875" cy="1446175"/>
            </a:xfrm>
            <a:custGeom>
              <a:avLst/>
              <a:gdLst/>
              <a:ahLst/>
              <a:cxnLst/>
              <a:rect l="l" t="t" r="r" b="b"/>
              <a:pathLst>
                <a:path w="915" h="57847" extrusionOk="0">
                  <a:moveTo>
                    <a:pt x="1" y="1"/>
                  </a:moveTo>
                  <a:lnTo>
                    <a:pt x="1" y="57847"/>
                  </a:lnTo>
                  <a:lnTo>
                    <a:pt x="914" y="57847"/>
                  </a:lnTo>
                  <a:lnTo>
                    <a:pt x="9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7186150" y="1590325"/>
              <a:ext cx="22250" cy="1669625"/>
            </a:xfrm>
            <a:custGeom>
              <a:avLst/>
              <a:gdLst/>
              <a:ahLst/>
              <a:cxnLst/>
              <a:rect l="l" t="t" r="r" b="b"/>
              <a:pathLst>
                <a:path w="890" h="66785" extrusionOk="0">
                  <a:moveTo>
                    <a:pt x="1" y="1"/>
                  </a:moveTo>
                  <a:lnTo>
                    <a:pt x="1" y="66784"/>
                  </a:lnTo>
                  <a:lnTo>
                    <a:pt x="889" y="66784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6899150" y="1590325"/>
              <a:ext cx="22225" cy="1669625"/>
            </a:xfrm>
            <a:custGeom>
              <a:avLst/>
              <a:gdLst/>
              <a:ahLst/>
              <a:cxnLst/>
              <a:rect l="l" t="t" r="r" b="b"/>
              <a:pathLst>
                <a:path w="889" h="66785" extrusionOk="0">
                  <a:moveTo>
                    <a:pt x="0" y="1"/>
                  </a:moveTo>
                  <a:lnTo>
                    <a:pt x="0" y="66784"/>
                  </a:lnTo>
                  <a:lnTo>
                    <a:pt x="889" y="66784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6612125" y="1590325"/>
              <a:ext cx="22250" cy="1669625"/>
            </a:xfrm>
            <a:custGeom>
              <a:avLst/>
              <a:gdLst/>
              <a:ahLst/>
              <a:cxnLst/>
              <a:rect l="l" t="t" r="r" b="b"/>
              <a:pathLst>
                <a:path w="890" h="66785" extrusionOk="0">
                  <a:moveTo>
                    <a:pt x="1" y="1"/>
                  </a:moveTo>
                  <a:lnTo>
                    <a:pt x="1" y="66784"/>
                  </a:lnTo>
                  <a:lnTo>
                    <a:pt x="890" y="66784"/>
                  </a:lnTo>
                  <a:lnTo>
                    <a:pt x="8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6055400" y="1976700"/>
              <a:ext cx="1624550" cy="22250"/>
            </a:xfrm>
            <a:custGeom>
              <a:avLst/>
              <a:gdLst/>
              <a:ahLst/>
              <a:cxnLst/>
              <a:rect l="l" t="t" r="r" b="b"/>
              <a:pathLst>
                <a:path w="64982" h="890" extrusionOk="0">
                  <a:moveTo>
                    <a:pt x="0" y="1"/>
                  </a:moveTo>
                  <a:lnTo>
                    <a:pt x="0" y="890"/>
                  </a:lnTo>
                  <a:lnTo>
                    <a:pt x="64982" y="890"/>
                  </a:lnTo>
                  <a:lnTo>
                    <a:pt x="64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6055400" y="2252600"/>
              <a:ext cx="1624550" cy="22875"/>
            </a:xfrm>
            <a:custGeom>
              <a:avLst/>
              <a:gdLst/>
              <a:ahLst/>
              <a:cxnLst/>
              <a:rect l="l" t="t" r="r" b="b"/>
              <a:pathLst>
                <a:path w="64982" h="915" extrusionOk="0">
                  <a:moveTo>
                    <a:pt x="0" y="1"/>
                  </a:moveTo>
                  <a:lnTo>
                    <a:pt x="0" y="914"/>
                  </a:lnTo>
                  <a:lnTo>
                    <a:pt x="64982" y="914"/>
                  </a:lnTo>
                  <a:lnTo>
                    <a:pt x="64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6055400" y="2529125"/>
              <a:ext cx="1624550" cy="22250"/>
            </a:xfrm>
            <a:custGeom>
              <a:avLst/>
              <a:gdLst/>
              <a:ahLst/>
              <a:cxnLst/>
              <a:rect l="l" t="t" r="r" b="b"/>
              <a:pathLst>
                <a:path w="64982" h="890" extrusionOk="0">
                  <a:moveTo>
                    <a:pt x="0" y="1"/>
                  </a:moveTo>
                  <a:lnTo>
                    <a:pt x="0" y="889"/>
                  </a:lnTo>
                  <a:lnTo>
                    <a:pt x="64982" y="889"/>
                  </a:lnTo>
                  <a:lnTo>
                    <a:pt x="64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6055400" y="2805025"/>
              <a:ext cx="1624550" cy="22875"/>
            </a:xfrm>
            <a:custGeom>
              <a:avLst/>
              <a:gdLst/>
              <a:ahLst/>
              <a:cxnLst/>
              <a:rect l="l" t="t" r="r" b="b"/>
              <a:pathLst>
                <a:path w="64982" h="915" extrusionOk="0">
                  <a:moveTo>
                    <a:pt x="0" y="1"/>
                  </a:moveTo>
                  <a:lnTo>
                    <a:pt x="0" y="914"/>
                  </a:lnTo>
                  <a:lnTo>
                    <a:pt x="64982" y="914"/>
                  </a:lnTo>
                  <a:lnTo>
                    <a:pt x="64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3" name="Google Shape;173;p16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8494400" y="3708969"/>
            <a:ext cx="895474" cy="94731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grpSp>
        <p:nvGrpSpPr>
          <p:cNvPr id="174" name="Google Shape;174;p16"/>
          <p:cNvGrpSpPr/>
          <p:nvPr/>
        </p:nvGrpSpPr>
        <p:grpSpPr>
          <a:xfrm rot="866521" flipH="1">
            <a:off x="-466792" y="4428529"/>
            <a:ext cx="2815798" cy="1670299"/>
            <a:chOff x="3129750" y="1771725"/>
            <a:chExt cx="2815800" cy="1670300"/>
          </a:xfrm>
        </p:grpSpPr>
        <p:sp>
          <p:nvSpPr>
            <p:cNvPr id="175" name="Google Shape;175;p16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3452" y="0"/>
            <a:ext cx="91909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subTitle" idx="1"/>
          </p:nvPr>
        </p:nvSpPr>
        <p:spPr>
          <a:xfrm>
            <a:off x="2009629" y="2229000"/>
            <a:ext cx="24672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2"/>
          </p:nvPr>
        </p:nvSpPr>
        <p:spPr>
          <a:xfrm>
            <a:off x="5835945" y="2229001"/>
            <a:ext cx="24642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subTitle" idx="3"/>
          </p:nvPr>
        </p:nvSpPr>
        <p:spPr>
          <a:xfrm>
            <a:off x="2009629" y="1595375"/>
            <a:ext cx="24672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4"/>
          </p:nvPr>
        </p:nvSpPr>
        <p:spPr>
          <a:xfrm>
            <a:off x="5835945" y="1595375"/>
            <a:ext cx="24642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5"/>
          </p:nvPr>
        </p:nvSpPr>
        <p:spPr>
          <a:xfrm>
            <a:off x="3909413" y="3962627"/>
            <a:ext cx="24672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6"/>
          </p:nvPr>
        </p:nvSpPr>
        <p:spPr>
          <a:xfrm>
            <a:off x="3909413" y="3328850"/>
            <a:ext cx="24672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0"/>
          <p:cNvGrpSpPr/>
          <p:nvPr/>
        </p:nvGrpSpPr>
        <p:grpSpPr>
          <a:xfrm>
            <a:off x="6669746" y="4746330"/>
            <a:ext cx="1187108" cy="220801"/>
            <a:chOff x="4592575" y="1091000"/>
            <a:chExt cx="793150" cy="147525"/>
          </a:xfrm>
        </p:grpSpPr>
        <p:sp>
          <p:nvSpPr>
            <p:cNvPr id="240" name="Google Shape;240;p20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20"/>
          <p:cNvGrpSpPr/>
          <p:nvPr/>
        </p:nvGrpSpPr>
        <p:grpSpPr>
          <a:xfrm rot="866521" flipH="1">
            <a:off x="-463242" y="4452429"/>
            <a:ext cx="2815798" cy="1670299"/>
            <a:chOff x="3129750" y="1771725"/>
            <a:chExt cx="2815800" cy="1670300"/>
          </a:xfrm>
        </p:grpSpPr>
        <p:sp>
          <p:nvSpPr>
            <p:cNvPr id="250" name="Google Shape;250;p20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3" name="Google Shape;253;p20"/>
          <p:cNvPicPr preferRelativeResize="0"/>
          <p:nvPr/>
        </p:nvPicPr>
        <p:blipFill rotWithShape="1">
          <a:blip r:embed="rId3">
            <a:alphaModFix/>
          </a:blip>
          <a:srcRect t="4228" r="13726" b="5224"/>
          <a:stretch/>
        </p:blipFill>
        <p:spPr>
          <a:xfrm rot="5106515">
            <a:off x="7825325" y="-683750"/>
            <a:ext cx="2709350" cy="19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/>
          <p:nvPr/>
        </p:nvSpPr>
        <p:spPr>
          <a:xfrm>
            <a:off x="8112913" y="21402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ubTitle" idx="1"/>
          </p:nvPr>
        </p:nvSpPr>
        <p:spPr>
          <a:xfrm>
            <a:off x="5168500" y="1951724"/>
            <a:ext cx="26565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2"/>
          </p:nvPr>
        </p:nvSpPr>
        <p:spPr>
          <a:xfrm>
            <a:off x="5168500" y="1621841"/>
            <a:ext cx="26565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3"/>
          </p:nvPr>
        </p:nvSpPr>
        <p:spPr>
          <a:xfrm>
            <a:off x="1318975" y="1951724"/>
            <a:ext cx="26565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4"/>
          </p:nvPr>
        </p:nvSpPr>
        <p:spPr>
          <a:xfrm>
            <a:off x="1318975" y="1621841"/>
            <a:ext cx="26565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5"/>
          </p:nvPr>
        </p:nvSpPr>
        <p:spPr>
          <a:xfrm>
            <a:off x="5168500" y="3678358"/>
            <a:ext cx="26565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subTitle" idx="6"/>
          </p:nvPr>
        </p:nvSpPr>
        <p:spPr>
          <a:xfrm>
            <a:off x="5168500" y="3348475"/>
            <a:ext cx="26565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7"/>
          </p:nvPr>
        </p:nvSpPr>
        <p:spPr>
          <a:xfrm>
            <a:off x="1318975" y="3678358"/>
            <a:ext cx="26565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subTitle" idx="8"/>
          </p:nvPr>
        </p:nvSpPr>
        <p:spPr>
          <a:xfrm>
            <a:off x="1318975" y="3348475"/>
            <a:ext cx="26565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7934475" y="26967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21"/>
          <p:cNvGrpSpPr/>
          <p:nvPr/>
        </p:nvGrpSpPr>
        <p:grpSpPr>
          <a:xfrm rot="1375439" flipH="1">
            <a:off x="-554538" y="4102697"/>
            <a:ext cx="2815731" cy="1670259"/>
            <a:chOff x="3129750" y="1771725"/>
            <a:chExt cx="2815800" cy="1670300"/>
          </a:xfrm>
        </p:grpSpPr>
        <p:sp>
          <p:nvSpPr>
            <p:cNvPr id="268" name="Google Shape;268;p21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1" name="Google Shape;271;p21"/>
          <p:cNvPicPr preferRelativeResize="0"/>
          <p:nvPr/>
        </p:nvPicPr>
        <p:blipFill rotWithShape="1">
          <a:blip r:embed="rId3">
            <a:alphaModFix/>
          </a:blip>
          <a:srcRect t="4228" r="13726" b="5224"/>
          <a:stretch/>
        </p:blipFill>
        <p:spPr>
          <a:xfrm rot="2308458">
            <a:off x="7813750" y="4255750"/>
            <a:ext cx="2709350" cy="19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46900" y="-63625"/>
            <a:ext cx="9304601" cy="520712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2"/>
          <p:cNvSpPr txBox="1">
            <a:spLocks noGrp="1"/>
          </p:cNvSpPr>
          <p:nvPr>
            <p:ph type="subTitle" idx="1"/>
          </p:nvPr>
        </p:nvSpPr>
        <p:spPr>
          <a:xfrm>
            <a:off x="3441900" y="1889699"/>
            <a:ext cx="22602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2"/>
          <p:cNvSpPr txBox="1">
            <a:spLocks noGrp="1"/>
          </p:cNvSpPr>
          <p:nvPr>
            <p:ph type="subTitle" idx="2"/>
          </p:nvPr>
        </p:nvSpPr>
        <p:spPr>
          <a:xfrm>
            <a:off x="719999" y="1889699"/>
            <a:ext cx="22602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2"/>
          <p:cNvSpPr txBox="1">
            <a:spLocks noGrp="1"/>
          </p:cNvSpPr>
          <p:nvPr>
            <p:ph type="subTitle" idx="3"/>
          </p:nvPr>
        </p:nvSpPr>
        <p:spPr>
          <a:xfrm>
            <a:off x="719999" y="1559825"/>
            <a:ext cx="22602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8" name="Google Shape;278;p22"/>
          <p:cNvSpPr txBox="1">
            <a:spLocks noGrp="1"/>
          </p:cNvSpPr>
          <p:nvPr>
            <p:ph type="subTitle" idx="4"/>
          </p:nvPr>
        </p:nvSpPr>
        <p:spPr>
          <a:xfrm>
            <a:off x="3441900" y="1559825"/>
            <a:ext cx="22602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9" name="Google Shape;279;p22"/>
          <p:cNvSpPr txBox="1">
            <a:spLocks noGrp="1"/>
          </p:cNvSpPr>
          <p:nvPr>
            <p:ph type="subTitle" idx="5"/>
          </p:nvPr>
        </p:nvSpPr>
        <p:spPr>
          <a:xfrm>
            <a:off x="6163799" y="1889699"/>
            <a:ext cx="22602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6"/>
          </p:nvPr>
        </p:nvSpPr>
        <p:spPr>
          <a:xfrm>
            <a:off x="6163799" y="1559825"/>
            <a:ext cx="22602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1" name="Google Shape;281;p22"/>
          <p:cNvSpPr txBox="1">
            <a:spLocks noGrp="1"/>
          </p:cNvSpPr>
          <p:nvPr>
            <p:ph type="subTitle" idx="7"/>
          </p:nvPr>
        </p:nvSpPr>
        <p:spPr>
          <a:xfrm>
            <a:off x="3441900" y="3709699"/>
            <a:ext cx="22602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2"/>
          <p:cNvSpPr txBox="1">
            <a:spLocks noGrp="1"/>
          </p:cNvSpPr>
          <p:nvPr>
            <p:ph type="subTitle" idx="8"/>
          </p:nvPr>
        </p:nvSpPr>
        <p:spPr>
          <a:xfrm>
            <a:off x="719999" y="3709699"/>
            <a:ext cx="22602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subTitle" idx="9"/>
          </p:nvPr>
        </p:nvSpPr>
        <p:spPr>
          <a:xfrm>
            <a:off x="719999" y="3379825"/>
            <a:ext cx="22602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ubTitle" idx="13"/>
          </p:nvPr>
        </p:nvSpPr>
        <p:spPr>
          <a:xfrm>
            <a:off x="3441900" y="3379825"/>
            <a:ext cx="22602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subTitle" idx="14"/>
          </p:nvPr>
        </p:nvSpPr>
        <p:spPr>
          <a:xfrm>
            <a:off x="6163799" y="3709699"/>
            <a:ext cx="22602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subTitle" idx="15"/>
          </p:nvPr>
        </p:nvSpPr>
        <p:spPr>
          <a:xfrm>
            <a:off x="6163799" y="3379825"/>
            <a:ext cx="22602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87" name="Google Shape;287;p22"/>
          <p:cNvGrpSpPr/>
          <p:nvPr/>
        </p:nvGrpSpPr>
        <p:grpSpPr>
          <a:xfrm rot="5400000">
            <a:off x="8153650" y="4171250"/>
            <a:ext cx="1367775" cy="101850"/>
            <a:chOff x="1180575" y="2984650"/>
            <a:chExt cx="1367775" cy="101850"/>
          </a:xfrm>
        </p:grpSpPr>
        <p:sp>
          <p:nvSpPr>
            <p:cNvPr id="288" name="Google Shape;288;p22"/>
            <p:cNvSpPr/>
            <p:nvPr/>
          </p:nvSpPr>
          <p:spPr>
            <a:xfrm>
              <a:off x="1180575" y="2984650"/>
              <a:ext cx="101850" cy="101850"/>
            </a:xfrm>
            <a:custGeom>
              <a:avLst/>
              <a:gdLst/>
              <a:ahLst/>
              <a:cxnLst/>
              <a:rect l="l" t="t" r="r" b="b"/>
              <a:pathLst>
                <a:path w="4074" h="4074" extrusionOk="0">
                  <a:moveTo>
                    <a:pt x="2024" y="0"/>
                  </a:moveTo>
                  <a:cubicBezTo>
                    <a:pt x="889" y="0"/>
                    <a:pt x="0" y="914"/>
                    <a:pt x="0" y="2025"/>
                  </a:cubicBezTo>
                  <a:cubicBezTo>
                    <a:pt x="0" y="3160"/>
                    <a:pt x="913" y="4074"/>
                    <a:pt x="2024" y="4074"/>
                  </a:cubicBezTo>
                  <a:cubicBezTo>
                    <a:pt x="3160" y="4074"/>
                    <a:pt x="4074" y="3136"/>
                    <a:pt x="4074" y="2025"/>
                  </a:cubicBezTo>
                  <a:cubicBezTo>
                    <a:pt x="4074" y="914"/>
                    <a:pt x="3160" y="0"/>
                    <a:pt x="20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1496575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50" y="0"/>
                  </a:moveTo>
                  <a:cubicBezTo>
                    <a:pt x="890" y="0"/>
                    <a:pt x="1" y="914"/>
                    <a:pt x="1" y="2025"/>
                  </a:cubicBezTo>
                  <a:cubicBezTo>
                    <a:pt x="1" y="3160"/>
                    <a:pt x="939" y="4074"/>
                    <a:pt x="2050" y="4074"/>
                  </a:cubicBezTo>
                  <a:cubicBezTo>
                    <a:pt x="3186" y="4074"/>
                    <a:pt x="4074" y="3136"/>
                    <a:pt x="4074" y="2025"/>
                  </a:cubicBezTo>
                  <a:cubicBezTo>
                    <a:pt x="4074" y="914"/>
                    <a:pt x="3186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1813825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25" y="0"/>
                  </a:moveTo>
                  <a:cubicBezTo>
                    <a:pt x="890" y="0"/>
                    <a:pt x="1" y="914"/>
                    <a:pt x="1" y="2025"/>
                  </a:cubicBezTo>
                  <a:cubicBezTo>
                    <a:pt x="1" y="3160"/>
                    <a:pt x="914" y="4074"/>
                    <a:pt x="2025" y="4074"/>
                  </a:cubicBezTo>
                  <a:cubicBezTo>
                    <a:pt x="3186" y="4074"/>
                    <a:pt x="4075" y="3136"/>
                    <a:pt x="4075" y="2025"/>
                  </a:cubicBezTo>
                  <a:cubicBezTo>
                    <a:pt x="4075" y="914"/>
                    <a:pt x="3136" y="0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2129850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50" y="0"/>
                  </a:moveTo>
                  <a:cubicBezTo>
                    <a:pt x="914" y="0"/>
                    <a:pt x="1" y="914"/>
                    <a:pt x="1" y="2025"/>
                  </a:cubicBezTo>
                  <a:cubicBezTo>
                    <a:pt x="1" y="3160"/>
                    <a:pt x="939" y="4074"/>
                    <a:pt x="2050" y="4074"/>
                  </a:cubicBezTo>
                  <a:cubicBezTo>
                    <a:pt x="3186" y="4074"/>
                    <a:pt x="4074" y="3136"/>
                    <a:pt x="4074" y="2025"/>
                  </a:cubicBezTo>
                  <a:cubicBezTo>
                    <a:pt x="4074" y="914"/>
                    <a:pt x="3161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2446500" y="2984650"/>
              <a:ext cx="101850" cy="101850"/>
            </a:xfrm>
            <a:custGeom>
              <a:avLst/>
              <a:gdLst/>
              <a:ahLst/>
              <a:cxnLst/>
              <a:rect l="l" t="t" r="r" b="b"/>
              <a:pathLst>
                <a:path w="4074" h="4074" extrusionOk="0">
                  <a:moveTo>
                    <a:pt x="2025" y="0"/>
                  </a:moveTo>
                  <a:cubicBezTo>
                    <a:pt x="889" y="0"/>
                    <a:pt x="0" y="914"/>
                    <a:pt x="0" y="2025"/>
                  </a:cubicBezTo>
                  <a:cubicBezTo>
                    <a:pt x="0" y="3160"/>
                    <a:pt x="914" y="4074"/>
                    <a:pt x="2025" y="4074"/>
                  </a:cubicBezTo>
                  <a:cubicBezTo>
                    <a:pt x="3185" y="4074"/>
                    <a:pt x="4074" y="3136"/>
                    <a:pt x="4074" y="2025"/>
                  </a:cubicBezTo>
                  <a:cubicBezTo>
                    <a:pt x="4074" y="914"/>
                    <a:pt x="3185" y="0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" name="Google Shape;293;p22"/>
          <p:cNvGrpSpPr/>
          <p:nvPr/>
        </p:nvGrpSpPr>
        <p:grpSpPr>
          <a:xfrm>
            <a:off x="7735133" y="-707509"/>
            <a:ext cx="1387528" cy="1426539"/>
            <a:chOff x="6055400" y="1590325"/>
            <a:chExt cx="1624550" cy="1670225"/>
          </a:xfrm>
        </p:grpSpPr>
        <p:sp>
          <p:nvSpPr>
            <p:cNvPr id="294" name="Google Shape;294;p22"/>
            <p:cNvSpPr/>
            <p:nvPr/>
          </p:nvSpPr>
          <p:spPr>
            <a:xfrm>
              <a:off x="6324500" y="1814375"/>
              <a:ext cx="22875" cy="1446175"/>
            </a:xfrm>
            <a:custGeom>
              <a:avLst/>
              <a:gdLst/>
              <a:ahLst/>
              <a:cxnLst/>
              <a:rect l="l" t="t" r="r" b="b"/>
              <a:pathLst>
                <a:path w="915" h="57847" extrusionOk="0">
                  <a:moveTo>
                    <a:pt x="1" y="1"/>
                  </a:moveTo>
                  <a:lnTo>
                    <a:pt x="1" y="57847"/>
                  </a:lnTo>
                  <a:lnTo>
                    <a:pt x="914" y="57847"/>
                  </a:lnTo>
                  <a:lnTo>
                    <a:pt x="9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7186150" y="1590325"/>
              <a:ext cx="22250" cy="1669625"/>
            </a:xfrm>
            <a:custGeom>
              <a:avLst/>
              <a:gdLst/>
              <a:ahLst/>
              <a:cxnLst/>
              <a:rect l="l" t="t" r="r" b="b"/>
              <a:pathLst>
                <a:path w="890" h="66785" extrusionOk="0">
                  <a:moveTo>
                    <a:pt x="1" y="1"/>
                  </a:moveTo>
                  <a:lnTo>
                    <a:pt x="1" y="66784"/>
                  </a:lnTo>
                  <a:lnTo>
                    <a:pt x="889" y="66784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6899150" y="1590325"/>
              <a:ext cx="22225" cy="1669625"/>
            </a:xfrm>
            <a:custGeom>
              <a:avLst/>
              <a:gdLst/>
              <a:ahLst/>
              <a:cxnLst/>
              <a:rect l="l" t="t" r="r" b="b"/>
              <a:pathLst>
                <a:path w="889" h="66785" extrusionOk="0">
                  <a:moveTo>
                    <a:pt x="0" y="1"/>
                  </a:moveTo>
                  <a:lnTo>
                    <a:pt x="0" y="66784"/>
                  </a:lnTo>
                  <a:lnTo>
                    <a:pt x="889" y="66784"/>
                  </a:lnTo>
                  <a:lnTo>
                    <a:pt x="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6612125" y="1590325"/>
              <a:ext cx="22250" cy="1669625"/>
            </a:xfrm>
            <a:custGeom>
              <a:avLst/>
              <a:gdLst/>
              <a:ahLst/>
              <a:cxnLst/>
              <a:rect l="l" t="t" r="r" b="b"/>
              <a:pathLst>
                <a:path w="890" h="66785" extrusionOk="0">
                  <a:moveTo>
                    <a:pt x="1" y="1"/>
                  </a:moveTo>
                  <a:lnTo>
                    <a:pt x="1" y="66784"/>
                  </a:lnTo>
                  <a:lnTo>
                    <a:pt x="890" y="66784"/>
                  </a:lnTo>
                  <a:lnTo>
                    <a:pt x="8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6055400" y="1976700"/>
              <a:ext cx="1624550" cy="22250"/>
            </a:xfrm>
            <a:custGeom>
              <a:avLst/>
              <a:gdLst/>
              <a:ahLst/>
              <a:cxnLst/>
              <a:rect l="l" t="t" r="r" b="b"/>
              <a:pathLst>
                <a:path w="64982" h="890" extrusionOk="0">
                  <a:moveTo>
                    <a:pt x="0" y="1"/>
                  </a:moveTo>
                  <a:lnTo>
                    <a:pt x="0" y="890"/>
                  </a:lnTo>
                  <a:lnTo>
                    <a:pt x="64982" y="890"/>
                  </a:lnTo>
                  <a:lnTo>
                    <a:pt x="64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6055400" y="2252600"/>
              <a:ext cx="1624550" cy="22875"/>
            </a:xfrm>
            <a:custGeom>
              <a:avLst/>
              <a:gdLst/>
              <a:ahLst/>
              <a:cxnLst/>
              <a:rect l="l" t="t" r="r" b="b"/>
              <a:pathLst>
                <a:path w="64982" h="915" extrusionOk="0">
                  <a:moveTo>
                    <a:pt x="0" y="1"/>
                  </a:moveTo>
                  <a:lnTo>
                    <a:pt x="0" y="914"/>
                  </a:lnTo>
                  <a:lnTo>
                    <a:pt x="64982" y="914"/>
                  </a:lnTo>
                  <a:lnTo>
                    <a:pt x="64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6055400" y="2529125"/>
              <a:ext cx="1624550" cy="22250"/>
            </a:xfrm>
            <a:custGeom>
              <a:avLst/>
              <a:gdLst/>
              <a:ahLst/>
              <a:cxnLst/>
              <a:rect l="l" t="t" r="r" b="b"/>
              <a:pathLst>
                <a:path w="64982" h="890" extrusionOk="0">
                  <a:moveTo>
                    <a:pt x="0" y="1"/>
                  </a:moveTo>
                  <a:lnTo>
                    <a:pt x="0" y="889"/>
                  </a:lnTo>
                  <a:lnTo>
                    <a:pt x="64982" y="889"/>
                  </a:lnTo>
                  <a:lnTo>
                    <a:pt x="64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6055400" y="2805025"/>
              <a:ext cx="1624550" cy="22875"/>
            </a:xfrm>
            <a:custGeom>
              <a:avLst/>
              <a:gdLst/>
              <a:ahLst/>
              <a:cxnLst/>
              <a:rect l="l" t="t" r="r" b="b"/>
              <a:pathLst>
                <a:path w="64982" h="915" extrusionOk="0">
                  <a:moveTo>
                    <a:pt x="0" y="1"/>
                  </a:moveTo>
                  <a:lnTo>
                    <a:pt x="0" y="914"/>
                  </a:lnTo>
                  <a:lnTo>
                    <a:pt x="64982" y="914"/>
                  </a:lnTo>
                  <a:lnTo>
                    <a:pt x="64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/>
          <p:cNvPicPr preferRelativeResize="0"/>
          <p:nvPr/>
        </p:nvPicPr>
        <p:blipFill rotWithShape="1">
          <a:blip r:embed="rId3">
            <a:alphaModFix/>
          </a:blip>
          <a:srcRect t="4228" r="13726" b="5224"/>
          <a:stretch/>
        </p:blipFill>
        <p:spPr>
          <a:xfrm rot="1117848">
            <a:off x="-1750775" y="-193675"/>
            <a:ext cx="2709351" cy="19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543250" y="4502944"/>
            <a:ext cx="895474" cy="94731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grpSp>
        <p:nvGrpSpPr>
          <p:cNvPr id="318" name="Google Shape;318;p24"/>
          <p:cNvGrpSpPr/>
          <p:nvPr/>
        </p:nvGrpSpPr>
        <p:grpSpPr>
          <a:xfrm>
            <a:off x="7440671" y="178155"/>
            <a:ext cx="1187108" cy="220801"/>
            <a:chOff x="4592575" y="1091000"/>
            <a:chExt cx="793150" cy="147525"/>
          </a:xfrm>
        </p:grpSpPr>
        <p:sp>
          <p:nvSpPr>
            <p:cNvPr id="319" name="Google Shape;319;p24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3452" y="0"/>
            <a:ext cx="9190904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25"/>
          <p:cNvGrpSpPr/>
          <p:nvPr/>
        </p:nvGrpSpPr>
        <p:grpSpPr>
          <a:xfrm rot="10800000">
            <a:off x="-336690" y="-518473"/>
            <a:ext cx="2815800" cy="1670300"/>
            <a:chOff x="3129750" y="1771725"/>
            <a:chExt cx="2815800" cy="1670300"/>
          </a:xfrm>
        </p:grpSpPr>
        <p:sp>
          <p:nvSpPr>
            <p:cNvPr id="331" name="Google Shape;331;p25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4" name="Google Shape;334;p25"/>
          <p:cNvSpPr/>
          <p:nvPr/>
        </p:nvSpPr>
        <p:spPr>
          <a:xfrm>
            <a:off x="7658325" y="455122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5" name="Google Shape;335;p25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493666">
            <a:off x="-1711784" y="3613372"/>
            <a:ext cx="7913369" cy="2238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●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○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■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●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○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■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●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○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■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1" r:id="rId9"/>
    <p:sldLayoutId id="2147483662" r:id="rId10"/>
    <p:sldLayoutId id="2147483666" r:id="rId11"/>
    <p:sldLayoutId id="2147483667" r:id="rId12"/>
    <p:sldLayoutId id="2147483668" r:id="rId13"/>
    <p:sldLayoutId id="2147483670" r:id="rId14"/>
    <p:sldLayoutId id="2147483671" r:id="rId15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9"/>
          <p:cNvPicPr preferRelativeResize="0"/>
          <p:nvPr/>
        </p:nvPicPr>
        <p:blipFill rotWithShape="1">
          <a:blip r:embed="rId3">
            <a:alphaModFix/>
          </a:blip>
          <a:srcRect l="3193" t="7138" r="8098" b="5380"/>
          <a:stretch/>
        </p:blipFill>
        <p:spPr>
          <a:xfrm rot="-2466350">
            <a:off x="6262239" y="3310688"/>
            <a:ext cx="5390539" cy="15558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29"/>
          <p:cNvGrpSpPr/>
          <p:nvPr/>
        </p:nvGrpSpPr>
        <p:grpSpPr>
          <a:xfrm>
            <a:off x="-997135" y="4222146"/>
            <a:ext cx="2335875" cy="1031501"/>
            <a:chOff x="-506300" y="140875"/>
            <a:chExt cx="2335875" cy="1031501"/>
          </a:xfrm>
        </p:grpSpPr>
        <p:sp>
          <p:nvSpPr>
            <p:cNvPr id="350" name="Google Shape;350;p29"/>
            <p:cNvSpPr/>
            <p:nvPr/>
          </p:nvSpPr>
          <p:spPr>
            <a:xfrm>
              <a:off x="-506300" y="140875"/>
              <a:ext cx="1806596" cy="954579"/>
            </a:xfrm>
            <a:custGeom>
              <a:avLst/>
              <a:gdLst/>
              <a:ahLst/>
              <a:cxnLst/>
              <a:rect l="l" t="t" r="r" b="b"/>
              <a:pathLst>
                <a:path w="44812" h="23678" extrusionOk="0">
                  <a:moveTo>
                    <a:pt x="32985" y="618"/>
                  </a:moveTo>
                  <a:cubicBezTo>
                    <a:pt x="39157" y="618"/>
                    <a:pt x="44194" y="5655"/>
                    <a:pt x="44194" y="11852"/>
                  </a:cubicBezTo>
                  <a:cubicBezTo>
                    <a:pt x="44194" y="18024"/>
                    <a:pt x="39157" y="23060"/>
                    <a:pt x="32985" y="23060"/>
                  </a:cubicBezTo>
                  <a:lnTo>
                    <a:pt x="618" y="23060"/>
                  </a:lnTo>
                  <a:lnTo>
                    <a:pt x="618" y="618"/>
                  </a:lnTo>
                  <a:close/>
                  <a:moveTo>
                    <a:pt x="1" y="1"/>
                  </a:moveTo>
                  <a:lnTo>
                    <a:pt x="1" y="23678"/>
                  </a:lnTo>
                  <a:lnTo>
                    <a:pt x="32985" y="23678"/>
                  </a:lnTo>
                  <a:cubicBezTo>
                    <a:pt x="39503" y="23678"/>
                    <a:pt x="44811" y="18370"/>
                    <a:pt x="44811" y="11827"/>
                  </a:cubicBezTo>
                  <a:cubicBezTo>
                    <a:pt x="44811" y="5309"/>
                    <a:pt x="39503" y="1"/>
                    <a:pt x="329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1" name="Google Shape;351;p29"/>
            <p:cNvPicPr preferRelativeResize="0"/>
            <p:nvPr/>
          </p:nvPicPr>
          <p:blipFill rotWithShape="1">
            <a:blip r:embed="rId4">
              <a:alphaModFix/>
            </a:blip>
            <a:srcRect l="11534" t="10354" r="12679"/>
            <a:stretch/>
          </p:blipFill>
          <p:spPr>
            <a:xfrm>
              <a:off x="934075" y="225050"/>
              <a:ext cx="895500" cy="9473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Cadre 6"/>
          <p:cNvSpPr/>
          <p:nvPr/>
        </p:nvSpPr>
        <p:spPr>
          <a:xfrm>
            <a:off x="306080" y="479226"/>
            <a:ext cx="7365960" cy="1467962"/>
          </a:xfrm>
          <a:prstGeom prst="fram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0"/>
          <p:cNvSpPr/>
          <p:nvPr/>
        </p:nvSpPr>
        <p:spPr>
          <a:xfrm>
            <a:off x="672301" y="795238"/>
            <a:ext cx="6575992" cy="76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Mise en place d'un ERP </a:t>
            </a:r>
            <a:r>
              <a:rPr lang="en-US" sz="3600" dirty="0" err="1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Gratuit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306081" y="2795588"/>
            <a:ext cx="5728960" cy="134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Une solution accessible pour la gestion intégrée des PME, </a:t>
            </a:r>
            <a:r>
              <a:rPr lang="en-US" sz="26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et </a:t>
            </a: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associations</a:t>
            </a:r>
            <a:endParaRPr lang="en-US" sz="2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589967" y="2112993"/>
            <a:ext cx="1137829" cy="1706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rganigramme : Terminateur 5"/>
          <p:cNvSpPr/>
          <p:nvPr/>
        </p:nvSpPr>
        <p:spPr>
          <a:xfrm>
            <a:off x="1065485" y="1581661"/>
            <a:ext cx="3793344" cy="418552"/>
          </a:xfrm>
          <a:prstGeom prst="flowChartTerminator">
            <a:avLst/>
          </a:prstGeom>
          <a:gradFill flip="none" rotWithShape="1">
            <a:gsLst>
              <a:gs pos="45000">
                <a:srgbClr val="FCB319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Organigramme : Terminateur 31"/>
          <p:cNvSpPr/>
          <p:nvPr/>
        </p:nvSpPr>
        <p:spPr>
          <a:xfrm>
            <a:off x="1065485" y="2198522"/>
            <a:ext cx="3793344" cy="418552"/>
          </a:xfrm>
          <a:prstGeom prst="flowChartTerminator">
            <a:avLst/>
          </a:prstGeom>
          <a:gradFill flip="none" rotWithShape="1">
            <a:gsLst>
              <a:gs pos="45000">
                <a:srgbClr val="EA6A1F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4" name="Google Shape;374;p31"/>
          <p:cNvSpPr txBox="1">
            <a:spLocks noGrp="1"/>
          </p:cNvSpPr>
          <p:nvPr>
            <p:ph type="subTitle" idx="1"/>
          </p:nvPr>
        </p:nvSpPr>
        <p:spPr>
          <a:xfrm>
            <a:off x="1966371" y="1562995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du projet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rganigramme : Terminateur 36"/>
          <p:cNvSpPr/>
          <p:nvPr/>
        </p:nvSpPr>
        <p:spPr>
          <a:xfrm>
            <a:off x="1161603" y="3480844"/>
            <a:ext cx="3793344" cy="418552"/>
          </a:xfrm>
          <a:prstGeom prst="flowChartTerminator">
            <a:avLst/>
          </a:prstGeom>
          <a:gradFill flip="none" rotWithShape="1">
            <a:gsLst>
              <a:gs pos="45000">
                <a:srgbClr val="00B05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5" name="Google Shape;375;p31"/>
          <p:cNvSpPr txBox="1">
            <a:spLocks noGrp="1"/>
          </p:cNvSpPr>
          <p:nvPr>
            <p:ph type="subTitle" idx="8"/>
          </p:nvPr>
        </p:nvSpPr>
        <p:spPr>
          <a:xfrm>
            <a:off x="2371393" y="2148647"/>
            <a:ext cx="1778464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rganigramme : Terminateur 45"/>
          <p:cNvSpPr/>
          <p:nvPr/>
        </p:nvSpPr>
        <p:spPr>
          <a:xfrm>
            <a:off x="2743510" y="914971"/>
            <a:ext cx="2349316" cy="439720"/>
          </a:xfrm>
          <a:prstGeom prst="flowChartTerminator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7" name="Google Shape;377;p31"/>
          <p:cNvSpPr txBox="1">
            <a:spLocks noGrp="1"/>
          </p:cNvSpPr>
          <p:nvPr>
            <p:ph type="subTitle" idx="13"/>
          </p:nvPr>
        </p:nvSpPr>
        <p:spPr>
          <a:xfrm>
            <a:off x="1933080" y="3422756"/>
            <a:ext cx="2437855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M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0" y="117080"/>
            <a:ext cx="9144000" cy="461665"/>
            <a:chOff x="0" y="114007"/>
            <a:chExt cx="9144000" cy="461665"/>
          </a:xfrm>
        </p:grpSpPr>
        <p:sp>
          <p:nvSpPr>
            <p:cNvPr id="12" name="Bouée 11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Bouée 12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4" name="Connecteur droit 13"/>
            <p:cNvCxnSpPr>
              <a:stCxn id="12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>
              <a:endCxn id="13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ZoneTexte 15"/>
            <p:cNvSpPr txBox="1"/>
            <p:nvPr/>
          </p:nvSpPr>
          <p:spPr>
            <a:xfrm>
              <a:off x="2607202" y="114007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PLAN DE TRAVAIL</a:t>
              </a:r>
            </a:p>
          </p:txBody>
        </p:sp>
      </p:grpSp>
      <p:sp>
        <p:nvSpPr>
          <p:cNvPr id="3" name="ZoneTexte 2"/>
          <p:cNvSpPr txBox="1"/>
          <p:nvPr/>
        </p:nvSpPr>
        <p:spPr>
          <a:xfrm>
            <a:off x="2881311" y="932233"/>
            <a:ext cx="2409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fr-CM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ésentation</a:t>
            </a:r>
            <a:r>
              <a:rPr lang="fr-CM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ERP</a:t>
            </a:r>
            <a:endParaRPr lang="fr-F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rganigramme : Terminateur 35"/>
          <p:cNvSpPr/>
          <p:nvPr/>
        </p:nvSpPr>
        <p:spPr>
          <a:xfrm>
            <a:off x="1161603" y="2857427"/>
            <a:ext cx="3793344" cy="418552"/>
          </a:xfrm>
          <a:prstGeom prst="flowChartTerminator">
            <a:avLst/>
          </a:prstGeom>
          <a:gradFill flip="none" rotWithShape="1">
            <a:gsLst>
              <a:gs pos="45000">
                <a:srgbClr val="01ACC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6" name="Google Shape;376;p31"/>
          <p:cNvSpPr txBox="1">
            <a:spLocks noGrp="1"/>
          </p:cNvSpPr>
          <p:nvPr>
            <p:ph type="subTitle" idx="9"/>
          </p:nvPr>
        </p:nvSpPr>
        <p:spPr>
          <a:xfrm>
            <a:off x="2478504" y="2821939"/>
            <a:ext cx="1680735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lipse 6"/>
          <p:cNvSpPr/>
          <p:nvPr/>
        </p:nvSpPr>
        <p:spPr>
          <a:xfrm>
            <a:off x="4055859" y="909588"/>
            <a:ext cx="3882788" cy="3671248"/>
          </a:xfrm>
          <a:prstGeom prst="ellipse">
            <a:avLst/>
          </a:prstGeom>
          <a:solidFill>
            <a:srgbClr val="B5D8C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4389699" y="1197280"/>
            <a:ext cx="3215109" cy="3212960"/>
            <a:chOff x="4383210" y="1026680"/>
            <a:chExt cx="3215109" cy="3212960"/>
          </a:xfrm>
        </p:grpSpPr>
        <p:sp>
          <p:nvSpPr>
            <p:cNvPr id="27" name="Ellipse 26"/>
            <p:cNvSpPr/>
            <p:nvPr/>
          </p:nvSpPr>
          <p:spPr>
            <a:xfrm>
              <a:off x="4383210" y="1026680"/>
              <a:ext cx="3215109" cy="3085912"/>
            </a:xfrm>
            <a:prstGeom prst="ellipse">
              <a:avLst/>
            </a:prstGeom>
            <a:ln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693828" y="1073359"/>
              <a:ext cx="2176818" cy="3166281"/>
            </a:xfrm>
            <a:prstGeom prst="rect">
              <a:avLst/>
            </a:prstGeom>
          </p:spPr>
        </p:pic>
      </p:grpSp>
      <p:sp>
        <p:nvSpPr>
          <p:cNvPr id="35" name="Ellipse 34"/>
          <p:cNvSpPr/>
          <p:nvPr/>
        </p:nvSpPr>
        <p:spPr>
          <a:xfrm>
            <a:off x="1045213" y="3414031"/>
            <a:ext cx="531503" cy="518554"/>
          </a:xfrm>
          <a:prstGeom prst="ellipse">
            <a:avLst/>
          </a:prstGeom>
          <a:solidFill>
            <a:schemeClr val="accent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9" name="Groupe 28"/>
          <p:cNvGrpSpPr/>
          <p:nvPr/>
        </p:nvGrpSpPr>
        <p:grpSpPr>
          <a:xfrm>
            <a:off x="1037459" y="1523518"/>
            <a:ext cx="539257" cy="518554"/>
            <a:chOff x="1037459" y="1523518"/>
            <a:chExt cx="539257" cy="518554"/>
          </a:xfrm>
        </p:grpSpPr>
        <p:sp>
          <p:nvSpPr>
            <p:cNvPr id="17" name="Ellipse 16"/>
            <p:cNvSpPr/>
            <p:nvPr/>
          </p:nvSpPr>
          <p:spPr>
            <a:xfrm>
              <a:off x="1037459" y="1523518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" name="ZoneTexte 18"/>
            <p:cNvSpPr txBox="1"/>
            <p:nvPr/>
          </p:nvSpPr>
          <p:spPr>
            <a:xfrm>
              <a:off x="1040215" y="1590882"/>
              <a:ext cx="5365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spc="50" dirty="0" smtClean="0">
                  <a:ln w="0">
                    <a:solidFill>
                      <a:srgbClr val="FCC52A"/>
                    </a:solidFill>
                  </a:ln>
                  <a:solidFill>
                    <a:srgbClr val="FCB319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01</a:t>
              </a:r>
              <a:endParaRPr lang="fr-FR" sz="2000" b="1" spc="50" dirty="0">
                <a:ln w="0">
                  <a:solidFill>
                    <a:srgbClr val="FCC52A"/>
                  </a:solidFill>
                </a:ln>
                <a:solidFill>
                  <a:srgbClr val="FCB31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grpSp>
        <p:nvGrpSpPr>
          <p:cNvPr id="30" name="Groupe 29"/>
          <p:cNvGrpSpPr/>
          <p:nvPr/>
        </p:nvGrpSpPr>
        <p:grpSpPr>
          <a:xfrm>
            <a:off x="1043227" y="2127407"/>
            <a:ext cx="536501" cy="518554"/>
            <a:chOff x="1043227" y="2127407"/>
            <a:chExt cx="536501" cy="518554"/>
          </a:xfrm>
        </p:grpSpPr>
        <p:sp>
          <p:nvSpPr>
            <p:cNvPr id="33" name="Ellipse 32"/>
            <p:cNvSpPr/>
            <p:nvPr/>
          </p:nvSpPr>
          <p:spPr>
            <a:xfrm>
              <a:off x="1046662" y="2127407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" name="ZoneTexte 38"/>
            <p:cNvSpPr txBox="1"/>
            <p:nvPr/>
          </p:nvSpPr>
          <p:spPr>
            <a:xfrm>
              <a:off x="1043227" y="2187123"/>
              <a:ext cx="5365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spc="50" dirty="0" smtClean="0">
                  <a:ln w="0">
                    <a:solidFill>
                      <a:srgbClr val="FCC52A"/>
                    </a:solidFill>
                  </a:ln>
                  <a:solidFill>
                    <a:srgbClr val="EA6A1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02</a:t>
              </a:r>
              <a:endParaRPr lang="fr-FR" sz="2000" b="1" spc="50" dirty="0">
                <a:ln w="0">
                  <a:solidFill>
                    <a:srgbClr val="FCC52A"/>
                  </a:solidFill>
                </a:ln>
                <a:solidFill>
                  <a:srgbClr val="EA6A1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grpSp>
        <p:nvGrpSpPr>
          <p:cNvPr id="31" name="Groupe 30"/>
          <p:cNvGrpSpPr/>
          <p:nvPr/>
        </p:nvGrpSpPr>
        <p:grpSpPr>
          <a:xfrm>
            <a:off x="1032461" y="2782495"/>
            <a:ext cx="544255" cy="518554"/>
            <a:chOff x="1032461" y="2782495"/>
            <a:chExt cx="544255" cy="518554"/>
          </a:xfrm>
        </p:grpSpPr>
        <p:sp>
          <p:nvSpPr>
            <p:cNvPr id="34" name="Ellipse 33"/>
            <p:cNvSpPr/>
            <p:nvPr/>
          </p:nvSpPr>
          <p:spPr>
            <a:xfrm>
              <a:off x="1045213" y="2782495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3" name="ZoneTexte 42"/>
            <p:cNvSpPr txBox="1"/>
            <p:nvPr/>
          </p:nvSpPr>
          <p:spPr>
            <a:xfrm>
              <a:off x="1032461" y="2852354"/>
              <a:ext cx="5365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spc="50" dirty="0" smtClean="0">
                  <a:ln w="0">
                    <a:solidFill>
                      <a:srgbClr val="01ACC0"/>
                    </a:solidFill>
                  </a:ln>
                  <a:solidFill>
                    <a:srgbClr val="01ACC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03</a:t>
              </a:r>
              <a:endParaRPr lang="fr-FR" sz="2000" b="1" spc="50" dirty="0">
                <a:ln w="0">
                  <a:solidFill>
                    <a:srgbClr val="01ACC0"/>
                  </a:solidFill>
                </a:ln>
                <a:solidFill>
                  <a:srgbClr val="01ACC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sp>
        <p:nvSpPr>
          <p:cNvPr id="44" name="ZoneTexte 43"/>
          <p:cNvSpPr txBox="1"/>
          <p:nvPr/>
        </p:nvSpPr>
        <p:spPr>
          <a:xfrm>
            <a:off x="1040215" y="3483292"/>
            <a:ext cx="536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spc="50" dirty="0" smtClean="0">
                <a:ln w="0">
                  <a:solidFill>
                    <a:srgbClr val="00B050"/>
                  </a:solidFill>
                </a:ln>
                <a:solidFill>
                  <a:srgbClr val="00B05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04</a:t>
            </a:r>
            <a:endParaRPr lang="fr-FR" sz="2000" b="1" spc="50" dirty="0">
              <a:ln w="0">
                <a:solidFill>
                  <a:srgbClr val="00B050"/>
                </a:solidFill>
              </a:ln>
              <a:solidFill>
                <a:srgbClr val="00B05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e 53"/>
          <p:cNvGrpSpPr/>
          <p:nvPr/>
        </p:nvGrpSpPr>
        <p:grpSpPr>
          <a:xfrm>
            <a:off x="0" y="78507"/>
            <a:ext cx="9144000" cy="475210"/>
            <a:chOff x="0" y="75434"/>
            <a:chExt cx="9144000" cy="475210"/>
          </a:xfrm>
        </p:grpSpPr>
        <p:sp>
          <p:nvSpPr>
            <p:cNvPr id="55" name="Bouée 54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6" name="Bouée 55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57" name="Connecteur droit 56"/>
            <p:cNvCxnSpPr>
              <a:stCxn id="55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Connecteur droit 57"/>
            <p:cNvCxnSpPr>
              <a:endCxn id="56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ZoneTexte 58"/>
            <p:cNvSpPr txBox="1"/>
            <p:nvPr/>
          </p:nvSpPr>
          <p:spPr>
            <a:xfrm>
              <a:off x="2605067" y="75434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 smtClean="0"/>
                <a:t>PRESENTATION</a:t>
              </a:r>
              <a:endParaRPr lang="fr-FR" sz="2400" b="1" dirty="0"/>
            </a:p>
          </p:txBody>
        </p:sp>
      </p:grp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933" y="1932096"/>
            <a:ext cx="2085668" cy="208566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30147" y="741845"/>
            <a:ext cx="5610583" cy="565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Qu'est-ce qu'un ERP ?</a:t>
            </a:r>
            <a:endParaRPr lang="en-US" sz="4050" dirty="0"/>
          </a:p>
        </p:txBody>
      </p:sp>
      <p:sp>
        <p:nvSpPr>
          <p:cNvPr id="11" name="Text 1"/>
          <p:cNvSpPr/>
          <p:nvPr/>
        </p:nvSpPr>
        <p:spPr>
          <a:xfrm>
            <a:off x="230147" y="1526646"/>
            <a:ext cx="6342102" cy="6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ERP (Enterprise Resource Planning)</a:t>
            </a: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= Progiciel de Gestion Intégré </a:t>
            </a:r>
            <a:r>
              <a:rPr lang="en-US" sz="16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➡️</a:t>
            </a: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Permet de centraliser :</a:t>
            </a:r>
            <a:endParaRPr 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275868" y="229612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Comptabilité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275868" y="269819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Vente &amp; achat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275868" y="310026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Ressources humaines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275868" y="350234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Stock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275868" y="4017764"/>
            <a:ext cx="6342102" cy="6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➡️</a:t>
            </a: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Objectif : Automatiser les processus, améliorer la performance et la prise de décision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>
            <a:spLocks noGrp="1"/>
          </p:cNvSpPr>
          <p:nvPr>
            <p:ph type="title"/>
          </p:nvPr>
        </p:nvSpPr>
        <p:spPr>
          <a:xfrm>
            <a:off x="4141694" y="2171456"/>
            <a:ext cx="4287206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DESCRIPTION DU PROJET</a:t>
            </a:r>
            <a:endParaRPr dirty="0"/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214781">
            <a:off x="-1317392" y="3719766"/>
            <a:ext cx="7370835" cy="2084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32"/>
          <p:cNvGrpSpPr/>
          <p:nvPr/>
        </p:nvGrpSpPr>
        <p:grpSpPr>
          <a:xfrm>
            <a:off x="1537803" y="1907406"/>
            <a:ext cx="1187108" cy="220801"/>
            <a:chOff x="4592575" y="1091000"/>
            <a:chExt cx="793150" cy="147525"/>
          </a:xfrm>
        </p:grpSpPr>
        <p:sp>
          <p:nvSpPr>
            <p:cNvPr id="388" name="Google Shape;388;p32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7" name="Google Shape;397;p32"/>
          <p:cNvCxnSpPr/>
          <p:nvPr/>
        </p:nvCxnSpPr>
        <p:spPr>
          <a:xfrm rot="10800000">
            <a:off x="4683325" y="3938719"/>
            <a:ext cx="376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8" name="Google Shape;398;p32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1727011" y="2761955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58" y="-88716"/>
            <a:ext cx="3239263" cy="3055172"/>
          </a:xfrm>
          <a:prstGeom prst="ellipse">
            <a:avLst/>
          </a:prstGeom>
          <a:ln>
            <a:solidFill>
              <a:schemeClr val="tx2"/>
            </a:solidFill>
          </a:ln>
          <a:effectLst>
            <a:softEdge rad="112500"/>
          </a:effectLst>
        </p:spPr>
      </p:pic>
      <p:grpSp>
        <p:nvGrpSpPr>
          <p:cNvPr id="19" name="Groupe 18"/>
          <p:cNvGrpSpPr/>
          <p:nvPr/>
        </p:nvGrpSpPr>
        <p:grpSpPr>
          <a:xfrm>
            <a:off x="6987654" y="457201"/>
            <a:ext cx="1194580" cy="1166884"/>
            <a:chOff x="1037459" y="1523518"/>
            <a:chExt cx="539257" cy="518554"/>
          </a:xfrm>
        </p:grpSpPr>
        <p:sp>
          <p:nvSpPr>
            <p:cNvPr id="20" name="Ellipse 19"/>
            <p:cNvSpPr/>
            <p:nvPr/>
          </p:nvSpPr>
          <p:spPr>
            <a:xfrm>
              <a:off x="1037459" y="1523518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1040215" y="1590882"/>
              <a:ext cx="536501" cy="410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400" b="1" spc="50" dirty="0" smtClean="0">
                  <a:ln w="0">
                    <a:solidFill>
                      <a:srgbClr val="FCC52A"/>
                    </a:solidFill>
                  </a:ln>
                  <a:solidFill>
                    <a:srgbClr val="FCB319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01</a:t>
              </a:r>
              <a:endParaRPr lang="fr-FR" sz="5400" b="1" spc="50" dirty="0">
                <a:ln w="0">
                  <a:solidFill>
                    <a:srgbClr val="FCC52A"/>
                  </a:solidFill>
                </a:ln>
                <a:solidFill>
                  <a:srgbClr val="FCB31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3"/>
          <p:cNvPicPr preferRelativeResize="0"/>
          <p:nvPr/>
        </p:nvPicPr>
        <p:blipFill rotWithShape="1">
          <a:blip r:embed="rId3">
            <a:alphaModFix/>
          </a:blip>
          <a:srcRect l="3193" t="7138" r="8098" b="5380"/>
          <a:stretch/>
        </p:blipFill>
        <p:spPr>
          <a:xfrm rot="-2466351">
            <a:off x="4992094" y="3205205"/>
            <a:ext cx="7534751" cy="21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3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6259696" y="1168807"/>
            <a:ext cx="774733" cy="90342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2" name="Espace réservé pour une image  1"/>
          <p:cNvPicPr>
            <a:picLocks noGrp="1" noChangeAspect="1"/>
          </p:cNvPicPr>
          <p:nvPr>
            <p:ph type="pic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4309164" y="347912"/>
            <a:ext cx="4450307" cy="4722115"/>
          </a:xfrm>
          <a:prstGeom prst="ellipse">
            <a:avLst/>
          </a:prstGeom>
          <a:ln w="19050">
            <a:solidFill>
              <a:schemeClr val="tx1"/>
            </a:solidFill>
          </a:ln>
          <a:effectLst>
            <a:softEdge rad="112500"/>
          </a:effectLst>
        </p:spPr>
      </p:pic>
      <p:grpSp>
        <p:nvGrpSpPr>
          <p:cNvPr id="8" name="Groupe 7"/>
          <p:cNvGrpSpPr/>
          <p:nvPr/>
        </p:nvGrpSpPr>
        <p:grpSpPr>
          <a:xfrm>
            <a:off x="0" y="117080"/>
            <a:ext cx="9144000" cy="461665"/>
            <a:chOff x="0" y="114007"/>
            <a:chExt cx="9144000" cy="461665"/>
          </a:xfrm>
        </p:grpSpPr>
        <p:sp>
          <p:nvSpPr>
            <p:cNvPr id="10" name="Bouée 9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Bouée 10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2" name="Connecteur droit 11"/>
            <p:cNvCxnSpPr>
              <a:stCxn id="10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>
              <a:endCxn id="11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ZoneTexte 13"/>
            <p:cNvSpPr txBox="1"/>
            <p:nvPr/>
          </p:nvSpPr>
          <p:spPr>
            <a:xfrm>
              <a:off x="2607202" y="114007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Contexte</a:t>
              </a:r>
              <a:endParaRPr lang="fr-FR" sz="2400" b="1" dirty="0"/>
            </a:p>
          </p:txBody>
        </p:sp>
      </p:grpSp>
      <p:sp>
        <p:nvSpPr>
          <p:cNvPr id="17" name="Shape 1"/>
          <p:cNvSpPr/>
          <p:nvPr/>
        </p:nvSpPr>
        <p:spPr>
          <a:xfrm>
            <a:off x="168784" y="883073"/>
            <a:ext cx="4014116" cy="1037167"/>
          </a:xfrm>
          <a:prstGeom prst="roundRect">
            <a:avLst>
              <a:gd name="adj" fmla="val 5163"/>
            </a:avLst>
          </a:prstGeom>
          <a:noFill/>
          <a:ln w="30480">
            <a:solidFill>
              <a:srgbClr val="D8D4D4"/>
            </a:solidFill>
            <a:prstDash val="solid"/>
          </a:ln>
        </p:spPr>
      </p:sp>
      <p:sp>
        <p:nvSpPr>
          <p:cNvPr id="18" name="Shape 2"/>
          <p:cNvSpPr/>
          <p:nvPr/>
        </p:nvSpPr>
        <p:spPr>
          <a:xfrm>
            <a:off x="103576" y="883073"/>
            <a:ext cx="122921" cy="1037168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9" name="Text 3"/>
          <p:cNvSpPr/>
          <p:nvPr/>
        </p:nvSpPr>
        <p:spPr>
          <a:xfrm>
            <a:off x="517518" y="1106076"/>
            <a:ext cx="3265812" cy="62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Les ERP existants sont souvent coûteux 💰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21" name="Shape 5"/>
          <p:cNvSpPr/>
          <p:nvPr/>
        </p:nvSpPr>
        <p:spPr>
          <a:xfrm>
            <a:off x="168784" y="2129007"/>
            <a:ext cx="4014116" cy="1007625"/>
          </a:xfrm>
          <a:prstGeom prst="roundRect">
            <a:avLst>
              <a:gd name="adj" fmla="val 5163"/>
            </a:avLst>
          </a:prstGeom>
          <a:noFill/>
          <a:ln w="30480">
            <a:solidFill>
              <a:srgbClr val="D8D4D4"/>
            </a:solidFill>
            <a:prstDash val="solid"/>
          </a:ln>
        </p:spPr>
      </p:sp>
      <p:sp>
        <p:nvSpPr>
          <p:cNvPr id="23" name="Text 7"/>
          <p:cNvSpPr/>
          <p:nvPr/>
        </p:nvSpPr>
        <p:spPr>
          <a:xfrm>
            <a:off x="517518" y="2329150"/>
            <a:ext cx="3265812" cy="577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Trop complexes pour les petites structures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25" name="Shape 9"/>
          <p:cNvSpPr/>
          <p:nvPr/>
        </p:nvSpPr>
        <p:spPr>
          <a:xfrm>
            <a:off x="199265" y="3345398"/>
            <a:ext cx="3983635" cy="1018639"/>
          </a:xfrm>
          <a:prstGeom prst="roundRect">
            <a:avLst>
              <a:gd name="adj" fmla="val 5163"/>
            </a:avLst>
          </a:prstGeom>
          <a:noFill/>
          <a:ln w="30480">
            <a:solidFill>
              <a:srgbClr val="D8D4D4"/>
            </a:solidFill>
            <a:prstDash val="solid"/>
          </a:ln>
        </p:spPr>
      </p:sp>
      <p:sp>
        <p:nvSpPr>
          <p:cNvPr id="27" name="Text 11"/>
          <p:cNvSpPr/>
          <p:nvPr/>
        </p:nvSpPr>
        <p:spPr>
          <a:xfrm>
            <a:off x="547999" y="3534111"/>
            <a:ext cx="3376635" cy="74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Solutions gratuites limitées ou incomplètes 📉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29" name="Shape 2"/>
          <p:cNvSpPr/>
          <p:nvPr/>
        </p:nvSpPr>
        <p:spPr>
          <a:xfrm>
            <a:off x="97635" y="2117993"/>
            <a:ext cx="122921" cy="1037168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30" name="Shape 2"/>
          <p:cNvSpPr/>
          <p:nvPr/>
        </p:nvSpPr>
        <p:spPr>
          <a:xfrm>
            <a:off x="107323" y="3326869"/>
            <a:ext cx="122921" cy="1037168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6"/>
          <p:cNvSpPr txBox="1">
            <a:spLocks noGrp="1"/>
          </p:cNvSpPr>
          <p:nvPr>
            <p:ph type="subTitle" idx="3"/>
          </p:nvPr>
        </p:nvSpPr>
        <p:spPr>
          <a:xfrm>
            <a:off x="1664813" y="1712055"/>
            <a:ext cx="2467200" cy="5784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dirty="0" smtClean="0"/>
              <a:t>100 % gratuit</a:t>
            </a:r>
            <a:endParaRPr sz="2800" b="1" dirty="0"/>
          </a:p>
        </p:txBody>
      </p:sp>
      <p:sp>
        <p:nvSpPr>
          <p:cNvPr id="674" name="Google Shape;674;p46"/>
          <p:cNvSpPr txBox="1">
            <a:spLocks noGrp="1"/>
          </p:cNvSpPr>
          <p:nvPr>
            <p:ph type="subTitle" idx="4"/>
          </p:nvPr>
        </p:nvSpPr>
        <p:spPr>
          <a:xfrm>
            <a:off x="5835945" y="1595375"/>
            <a:ext cx="24642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/>
              <a:t>Open source</a:t>
            </a:r>
            <a:endParaRPr sz="2400" b="1" dirty="0"/>
          </a:p>
        </p:txBody>
      </p:sp>
      <p:sp>
        <p:nvSpPr>
          <p:cNvPr id="679" name="Google Shape;679;p46"/>
          <p:cNvSpPr txBox="1">
            <a:spLocks noGrp="1"/>
          </p:cNvSpPr>
          <p:nvPr>
            <p:ph type="subTitle" idx="6"/>
          </p:nvPr>
        </p:nvSpPr>
        <p:spPr>
          <a:xfrm>
            <a:off x="1623481" y="3242664"/>
            <a:ext cx="2467200" cy="5176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 smtClean="0"/>
              <a:t>Modulaire </a:t>
            </a:r>
            <a:endParaRPr sz="2400" b="1" dirty="0"/>
          </a:p>
        </p:txBody>
      </p:sp>
      <p:sp>
        <p:nvSpPr>
          <p:cNvPr id="14" name="Google Shape;674;p46"/>
          <p:cNvSpPr txBox="1">
            <a:spLocks/>
          </p:cNvSpPr>
          <p:nvPr/>
        </p:nvSpPr>
        <p:spPr>
          <a:xfrm>
            <a:off x="5721645" y="3190387"/>
            <a:ext cx="24642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None/>
              <a:defRPr sz="1200" b="0" i="0" u="none" strike="noStrike" cap="none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9pPr>
          </a:lstStyle>
          <a:p>
            <a:pPr marL="0" indent="0"/>
            <a:r>
              <a:rPr lang="fr-FR" sz="2000" b="1" dirty="0" smtClean="0"/>
              <a:t>Interface utilisateur réactive et moderne</a:t>
            </a:r>
            <a:endParaRPr lang="fr-FR" sz="20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63" y="1645650"/>
            <a:ext cx="711286" cy="7112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427" y="1645650"/>
            <a:ext cx="711286" cy="7112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63" y="3137261"/>
            <a:ext cx="711286" cy="7112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427" y="3145852"/>
            <a:ext cx="711286" cy="7112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23" name="Groupe 22"/>
          <p:cNvGrpSpPr/>
          <p:nvPr/>
        </p:nvGrpSpPr>
        <p:grpSpPr>
          <a:xfrm>
            <a:off x="0" y="117080"/>
            <a:ext cx="9144000" cy="461665"/>
            <a:chOff x="0" y="114007"/>
            <a:chExt cx="9144000" cy="461665"/>
          </a:xfrm>
        </p:grpSpPr>
        <p:sp>
          <p:nvSpPr>
            <p:cNvPr id="24" name="Bouée 23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Bouée 24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6" name="Connecteur droit 25"/>
            <p:cNvCxnSpPr>
              <a:stCxn id="24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cteur droit 26"/>
            <p:cNvCxnSpPr>
              <a:endCxn id="25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ZoneTexte 27"/>
            <p:cNvSpPr txBox="1"/>
            <p:nvPr/>
          </p:nvSpPr>
          <p:spPr>
            <a:xfrm>
              <a:off x="2607202" y="114007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Solution</a:t>
              </a:r>
              <a:endParaRPr lang="fr-FR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>
            <a:spLocks noGrp="1"/>
          </p:cNvSpPr>
          <p:nvPr>
            <p:ph type="title"/>
          </p:nvPr>
        </p:nvSpPr>
        <p:spPr>
          <a:xfrm>
            <a:off x="4683325" y="2171456"/>
            <a:ext cx="3745575" cy="7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Fonctionnalit</a:t>
            </a:r>
            <a:r>
              <a:rPr lang="fr-CM" sz="4000" dirty="0" err="1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fr-CM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214781">
            <a:off x="-1317392" y="3719766"/>
            <a:ext cx="7370835" cy="2084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32"/>
          <p:cNvGrpSpPr/>
          <p:nvPr/>
        </p:nvGrpSpPr>
        <p:grpSpPr>
          <a:xfrm>
            <a:off x="1537803" y="1907406"/>
            <a:ext cx="1187108" cy="220801"/>
            <a:chOff x="4592575" y="1091000"/>
            <a:chExt cx="793150" cy="147525"/>
          </a:xfrm>
        </p:grpSpPr>
        <p:sp>
          <p:nvSpPr>
            <p:cNvPr id="388" name="Google Shape;388;p32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7" name="Google Shape;397;p32"/>
          <p:cNvCxnSpPr/>
          <p:nvPr/>
        </p:nvCxnSpPr>
        <p:spPr>
          <a:xfrm rot="10800000">
            <a:off x="4683325" y="3938719"/>
            <a:ext cx="376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8" name="Google Shape;398;p32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1727011" y="2761955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43" y="-113188"/>
            <a:ext cx="4562432" cy="401778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8" name="Groupe 17"/>
          <p:cNvGrpSpPr/>
          <p:nvPr/>
        </p:nvGrpSpPr>
        <p:grpSpPr>
          <a:xfrm>
            <a:off x="6939185" y="966110"/>
            <a:ext cx="1213503" cy="1162097"/>
            <a:chOff x="1043227" y="2127407"/>
            <a:chExt cx="536501" cy="518554"/>
          </a:xfrm>
        </p:grpSpPr>
        <p:sp>
          <p:nvSpPr>
            <p:cNvPr id="19" name="Ellipse 18"/>
            <p:cNvSpPr/>
            <p:nvPr/>
          </p:nvSpPr>
          <p:spPr>
            <a:xfrm>
              <a:off x="1046662" y="2127407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1043227" y="2187123"/>
              <a:ext cx="536501" cy="412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400" b="1" spc="50" dirty="0" smtClean="0">
                  <a:ln w="0">
                    <a:solidFill>
                      <a:srgbClr val="FCC52A"/>
                    </a:solidFill>
                  </a:ln>
                  <a:solidFill>
                    <a:srgbClr val="EA6A1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02</a:t>
              </a:r>
              <a:endParaRPr lang="fr-FR" sz="2000" b="1" spc="50" dirty="0">
                <a:ln w="0">
                  <a:solidFill>
                    <a:srgbClr val="FCC52A"/>
                  </a:solidFill>
                </a:ln>
                <a:solidFill>
                  <a:srgbClr val="EA6A1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147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6" descr="preencoded.png"/>
          <p:cNvPicPr>
            <a:picLocks noChangeAspect="1"/>
          </p:cNvPicPr>
          <p:nvPr/>
        </p:nvPicPr>
        <p:blipFill rotWithShape="1">
          <a:blip r:embed="rId3"/>
          <a:srcRect l="49664" t="50378" r="15479" b="3262"/>
          <a:stretch/>
        </p:blipFill>
        <p:spPr>
          <a:xfrm>
            <a:off x="4446270" y="2628900"/>
            <a:ext cx="1143000" cy="1520190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 rotWithShape="1">
          <a:blip r:embed="rId4"/>
          <a:srcRect l="15504" t="50378" r="49988" b="3262"/>
          <a:stretch/>
        </p:blipFill>
        <p:spPr>
          <a:xfrm>
            <a:off x="3326130" y="2628900"/>
            <a:ext cx="1131570" cy="1520190"/>
          </a:xfrm>
          <a:prstGeom prst="rect">
            <a:avLst/>
          </a:prstGeom>
        </p:spPr>
      </p:pic>
      <p:pic>
        <p:nvPicPr>
          <p:cNvPr id="44" name="Image 10" descr="preencoded.png"/>
          <p:cNvPicPr>
            <a:picLocks noChangeAspect="1"/>
          </p:cNvPicPr>
          <p:nvPr/>
        </p:nvPicPr>
        <p:blipFill rotWithShape="1">
          <a:blip r:embed="rId5"/>
          <a:srcRect t="32949" r="51382" b="32891"/>
          <a:stretch/>
        </p:blipFill>
        <p:spPr>
          <a:xfrm>
            <a:off x="2817757" y="2057400"/>
            <a:ext cx="1594223" cy="1120140"/>
          </a:xfrm>
          <a:prstGeom prst="rect">
            <a:avLst/>
          </a:prstGeom>
        </p:spPr>
      </p:pic>
      <p:sp>
        <p:nvSpPr>
          <p:cNvPr id="652" name="Google Shape;652;p44"/>
          <p:cNvSpPr/>
          <p:nvPr/>
        </p:nvSpPr>
        <p:spPr>
          <a:xfrm>
            <a:off x="443600" y="479182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roupe 34"/>
          <p:cNvGrpSpPr/>
          <p:nvPr/>
        </p:nvGrpSpPr>
        <p:grpSpPr>
          <a:xfrm>
            <a:off x="-434340" y="78507"/>
            <a:ext cx="9932670" cy="475210"/>
            <a:chOff x="-434340" y="75434"/>
            <a:chExt cx="9932670" cy="475210"/>
          </a:xfrm>
        </p:grpSpPr>
        <p:sp>
          <p:nvSpPr>
            <p:cNvPr id="24" name="Bouée 23"/>
            <p:cNvSpPr/>
            <p:nvPr/>
          </p:nvSpPr>
          <p:spPr>
            <a:xfrm>
              <a:off x="191172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" name="Bouée 30"/>
            <p:cNvSpPr/>
            <p:nvPr/>
          </p:nvSpPr>
          <p:spPr>
            <a:xfrm>
              <a:off x="64319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6" name="Connecteur droit 25"/>
            <p:cNvCxnSpPr/>
            <p:nvPr/>
          </p:nvCxnSpPr>
          <p:spPr>
            <a:xfrm flipH="1">
              <a:off x="-43434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/>
            <p:nvPr/>
          </p:nvCxnSpPr>
          <p:spPr>
            <a:xfrm flipH="1">
              <a:off x="681921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ZoneTexte 28"/>
            <p:cNvSpPr txBox="1"/>
            <p:nvPr/>
          </p:nvSpPr>
          <p:spPr>
            <a:xfrm>
              <a:off x="2148053" y="75434"/>
              <a:ext cx="44234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 smtClean="0"/>
                <a:t>Fonctions</a:t>
              </a:r>
              <a:r>
                <a:rPr lang="en-US" sz="2400" b="1" dirty="0" smtClean="0"/>
                <a:t> </a:t>
              </a:r>
              <a:r>
                <a:rPr lang="en-US" sz="2400" b="1" dirty="0" err="1" smtClean="0"/>
                <a:t>Fonctionnelles</a:t>
              </a:r>
              <a:endParaRPr lang="fr-FR" sz="2400" b="1" dirty="0"/>
            </a:p>
          </p:txBody>
        </p:sp>
      </p:grpSp>
      <p:sp>
        <p:nvSpPr>
          <p:cNvPr id="20" name="Text 1"/>
          <p:cNvSpPr/>
          <p:nvPr/>
        </p:nvSpPr>
        <p:spPr>
          <a:xfrm>
            <a:off x="537917" y="1329202"/>
            <a:ext cx="2701898" cy="297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CRM (gestion clients)</a:t>
            </a:r>
            <a:endParaRPr lang="en-US" sz="2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 rotWithShape="1">
          <a:blip r:embed="rId6"/>
          <a:srcRect l="15852" r="49988" b="50319"/>
          <a:stretch/>
        </p:blipFill>
        <p:spPr>
          <a:xfrm>
            <a:off x="3337560" y="976968"/>
            <a:ext cx="1120140" cy="1629072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4228" y="1366391"/>
            <a:ext cx="546048" cy="682407"/>
          </a:xfrm>
          <a:prstGeom prst="rect">
            <a:avLst/>
          </a:prstGeom>
        </p:spPr>
      </p:pic>
      <p:sp>
        <p:nvSpPr>
          <p:cNvPr id="27" name="Text 2"/>
          <p:cNvSpPr/>
          <p:nvPr/>
        </p:nvSpPr>
        <p:spPr>
          <a:xfrm>
            <a:off x="5631650" y="1308034"/>
            <a:ext cx="1966421" cy="205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Gestion des </a:t>
            </a:r>
            <a:r>
              <a:rPr lang="en-US" sz="2200" dirty="0" err="1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ventes</a:t>
            </a: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</a:t>
            </a:r>
            <a:endParaRPr lang="en-US" sz="2200" dirty="0" smtClean="0">
              <a:solidFill>
                <a:srgbClr val="504C49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&amp; </a:t>
            </a: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achats</a:t>
            </a:r>
            <a:endParaRPr lang="en-US" sz="2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 rotWithShape="1">
          <a:blip r:embed="rId8"/>
          <a:srcRect l="49315" t="3320" r="15479" b="50320"/>
          <a:stretch/>
        </p:blipFill>
        <p:spPr>
          <a:xfrm>
            <a:off x="4434839" y="1085850"/>
            <a:ext cx="1154431" cy="1520190"/>
          </a:xfrm>
          <a:prstGeom prst="rect">
            <a:avLst/>
          </a:prstGeom>
        </p:spPr>
      </p:pic>
      <p:pic>
        <p:nvPicPr>
          <p:cNvPr id="33" name="Image 4" descr="preencoded.png"/>
          <p:cNvPicPr>
            <a:picLocks noChangeAspect="1"/>
          </p:cNvPicPr>
          <p:nvPr/>
        </p:nvPicPr>
        <p:blipFill rotWithShape="1">
          <a:blip r:embed="rId9"/>
          <a:srcRect l="49663" t="32600" b="32891"/>
          <a:stretch/>
        </p:blipFill>
        <p:spPr>
          <a:xfrm>
            <a:off x="4446269" y="2045970"/>
            <a:ext cx="1650587" cy="1131570"/>
          </a:xfrm>
          <a:prstGeom prst="rect">
            <a:avLst/>
          </a:prstGeom>
        </p:spPr>
      </p:pic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6286" y="1439803"/>
            <a:ext cx="558504" cy="697974"/>
          </a:xfrm>
          <a:prstGeom prst="rect">
            <a:avLst/>
          </a:prstGeom>
        </p:spPr>
      </p:pic>
      <p:sp>
        <p:nvSpPr>
          <p:cNvPr id="32" name="Text 3"/>
          <p:cNvSpPr/>
          <p:nvPr/>
        </p:nvSpPr>
        <p:spPr>
          <a:xfrm>
            <a:off x="6096856" y="2485261"/>
            <a:ext cx="2932844" cy="509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Facturation &amp; comptabilité simple</a:t>
            </a:r>
            <a:endParaRPr lang="en-US" sz="22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6870" y="2263495"/>
            <a:ext cx="584778" cy="730809"/>
          </a:xfrm>
          <a:prstGeom prst="rect">
            <a:avLst/>
          </a:prstGeom>
        </p:spPr>
      </p:pic>
      <p:sp>
        <p:nvSpPr>
          <p:cNvPr id="37" name="Text 4"/>
          <p:cNvSpPr/>
          <p:nvPr/>
        </p:nvSpPr>
        <p:spPr>
          <a:xfrm>
            <a:off x="5783440" y="3727349"/>
            <a:ext cx="2495079" cy="300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Gestion des stocks</a:t>
            </a:r>
            <a:endParaRPr lang="en-US" sz="22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1870" y="3106944"/>
            <a:ext cx="665408" cy="831574"/>
          </a:xfrm>
          <a:prstGeom prst="rect">
            <a:avLst/>
          </a:prstGeom>
        </p:spPr>
      </p:pic>
      <p:sp>
        <p:nvSpPr>
          <p:cNvPr id="40" name="Text 5"/>
          <p:cNvSpPr/>
          <p:nvPr/>
        </p:nvSpPr>
        <p:spPr>
          <a:xfrm>
            <a:off x="43792" y="3655584"/>
            <a:ext cx="3160989" cy="43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Ressources</a:t>
            </a: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</a:t>
            </a:r>
            <a:r>
              <a:rPr lang="en-US" sz="2200" dirty="0" err="1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humaines</a:t>
            </a:r>
            <a:endParaRPr lang="en-US" sz="22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8679" y="3091687"/>
            <a:ext cx="628742" cy="785752"/>
          </a:xfrm>
          <a:prstGeom prst="rect">
            <a:avLst/>
          </a:prstGeom>
        </p:spPr>
      </p:pic>
      <p:sp>
        <p:nvSpPr>
          <p:cNvPr id="43" name="Text 6"/>
          <p:cNvSpPr/>
          <p:nvPr/>
        </p:nvSpPr>
        <p:spPr>
          <a:xfrm>
            <a:off x="-382709" y="2415667"/>
            <a:ext cx="3032283" cy="6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Tableaux de </a:t>
            </a:r>
            <a:r>
              <a:rPr lang="en-US" sz="2200" dirty="0" err="1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bord</a:t>
            </a:r>
            <a:endParaRPr lang="en-US" sz="22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83433" y="2218586"/>
            <a:ext cx="584405" cy="7303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6"/>
          <p:cNvSpPr txBox="1">
            <a:spLocks noGrp="1"/>
          </p:cNvSpPr>
          <p:nvPr>
            <p:ph type="subTitle" idx="4"/>
          </p:nvPr>
        </p:nvSpPr>
        <p:spPr>
          <a:xfrm>
            <a:off x="248854" y="741894"/>
            <a:ext cx="3648776" cy="5138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2400" dirty="0" smtClean="0"/>
              <a:t>Architecture modulaire</a:t>
            </a:r>
            <a:endParaRPr sz="2400" dirty="0"/>
          </a:p>
        </p:txBody>
      </p:sp>
      <p:grpSp>
        <p:nvGrpSpPr>
          <p:cNvPr id="44" name="Groupe 43"/>
          <p:cNvGrpSpPr/>
          <p:nvPr/>
        </p:nvGrpSpPr>
        <p:grpSpPr>
          <a:xfrm>
            <a:off x="0" y="2009"/>
            <a:ext cx="9144000" cy="464424"/>
            <a:chOff x="0" y="86220"/>
            <a:chExt cx="9144000" cy="464424"/>
          </a:xfrm>
        </p:grpSpPr>
        <p:sp>
          <p:nvSpPr>
            <p:cNvPr id="45" name="Bouée 44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6" name="Bouée 45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47" name="Connecteur droit 46"/>
            <p:cNvCxnSpPr>
              <a:stCxn id="45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>
              <a:endCxn id="46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ZoneTexte 48"/>
            <p:cNvSpPr txBox="1"/>
            <p:nvPr/>
          </p:nvSpPr>
          <p:spPr>
            <a:xfrm>
              <a:off x="2674620" y="86220"/>
              <a:ext cx="34830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 smtClean="0"/>
                <a:t>Fonctions</a:t>
              </a:r>
              <a:r>
                <a:rPr lang="en-US" sz="2400" b="1" dirty="0" smtClean="0"/>
                <a:t> Techniques</a:t>
              </a:r>
              <a:endParaRPr lang="fr-FR" sz="2400" b="1" dirty="0"/>
            </a:p>
          </p:txBody>
        </p:sp>
      </p:grpSp>
      <p:sp>
        <p:nvSpPr>
          <p:cNvPr id="51" name="Google Shape;476;p36"/>
          <p:cNvSpPr txBox="1">
            <a:spLocks/>
          </p:cNvSpPr>
          <p:nvPr/>
        </p:nvSpPr>
        <p:spPr>
          <a:xfrm>
            <a:off x="248854" y="1562581"/>
            <a:ext cx="3997445" cy="70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fr-FR" sz="2400" dirty="0" smtClean="0"/>
              <a:t>Authentification </a:t>
            </a:r>
            <a:r>
              <a:rPr lang="fr-FR" sz="2400" dirty="0" smtClean="0">
                <a:latin typeface="Halant Medium" panose="020B0604020202020204" charset="0"/>
                <a:cs typeface="Halant Medium" panose="020B0604020202020204" charset="0"/>
              </a:rPr>
              <a:t>s</a:t>
            </a:r>
            <a:r>
              <a:rPr lang="fr-CM" sz="2400" dirty="0" err="1" smtClean="0">
                <a:latin typeface="Halant Medium" panose="020B0604020202020204" charset="0"/>
                <a:cs typeface="Halant Medium" panose="020B0604020202020204" charset="0"/>
              </a:rPr>
              <a:t>écurisée</a:t>
            </a:r>
            <a:endParaRPr lang="fr-FR" sz="2400" dirty="0">
              <a:latin typeface="Halant Medium" panose="020B0604020202020204" charset="0"/>
              <a:cs typeface="Halant Medium" panose="020B0604020202020204" charset="0"/>
            </a:endParaRPr>
          </a:p>
        </p:txBody>
      </p:sp>
      <p:sp>
        <p:nvSpPr>
          <p:cNvPr id="52" name="Google Shape;476;p36"/>
          <p:cNvSpPr txBox="1">
            <a:spLocks/>
          </p:cNvSpPr>
          <p:nvPr/>
        </p:nvSpPr>
        <p:spPr>
          <a:xfrm>
            <a:off x="248854" y="2869129"/>
            <a:ext cx="2656500" cy="57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400" dirty="0" smtClean="0"/>
              <a:t>API </a:t>
            </a:r>
            <a:r>
              <a:rPr lang="fr-FR" sz="2400" dirty="0" err="1" smtClean="0"/>
              <a:t>RESTful</a:t>
            </a:r>
            <a:endParaRPr lang="fr-FR" sz="2400" dirty="0"/>
          </a:p>
        </p:txBody>
      </p:sp>
      <p:sp>
        <p:nvSpPr>
          <p:cNvPr id="55" name="Google Shape;476;p36"/>
          <p:cNvSpPr txBox="1">
            <a:spLocks/>
          </p:cNvSpPr>
          <p:nvPr/>
        </p:nvSpPr>
        <p:spPr>
          <a:xfrm>
            <a:off x="248854" y="3977401"/>
            <a:ext cx="3536655" cy="53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fr-CM" dirty="0"/>
              <a:t> </a:t>
            </a:r>
            <a:r>
              <a:rPr lang="fr-CM" sz="2400" dirty="0" smtClean="0"/>
              <a:t>Interface responsive</a:t>
            </a:r>
            <a:endParaRPr lang="fr-FR" sz="24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636" y="741894"/>
            <a:ext cx="3774505" cy="3774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>
            <a:spLocks noGrp="1"/>
          </p:cNvSpPr>
          <p:nvPr>
            <p:ph type="title"/>
          </p:nvPr>
        </p:nvSpPr>
        <p:spPr>
          <a:xfrm>
            <a:off x="5223511" y="2171456"/>
            <a:ext cx="3205390" cy="7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M" sz="4000" dirty="0" smtClean="0"/>
              <a:t>Technologies</a:t>
            </a:r>
            <a:endParaRPr sz="4000" dirty="0"/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214781">
            <a:off x="-1317392" y="3719766"/>
            <a:ext cx="7370835" cy="2084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32"/>
          <p:cNvGrpSpPr/>
          <p:nvPr/>
        </p:nvGrpSpPr>
        <p:grpSpPr>
          <a:xfrm>
            <a:off x="1537803" y="1907406"/>
            <a:ext cx="1187108" cy="220801"/>
            <a:chOff x="4592575" y="1091000"/>
            <a:chExt cx="793150" cy="147525"/>
          </a:xfrm>
        </p:grpSpPr>
        <p:sp>
          <p:nvSpPr>
            <p:cNvPr id="388" name="Google Shape;388;p32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7" name="Google Shape;397;p32"/>
          <p:cNvCxnSpPr/>
          <p:nvPr/>
        </p:nvCxnSpPr>
        <p:spPr>
          <a:xfrm rot="10800000">
            <a:off x="4683325" y="3938719"/>
            <a:ext cx="376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8" name="Google Shape;398;p32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1727011" y="2761955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13" y="165281"/>
            <a:ext cx="4368801" cy="4169691"/>
          </a:xfrm>
          <a:prstGeom prst="ellipse">
            <a:avLst/>
          </a:prstGeom>
          <a:ln>
            <a:noFill/>
          </a:ln>
          <a:effectLst>
            <a:reflection blurRad="6350" stA="52000" endA="300" endPos="35000" dir="5400000" sy="-100000" algn="bl" rotWithShape="0"/>
            <a:softEdge rad="112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grpSp>
        <p:nvGrpSpPr>
          <p:cNvPr id="19" name="Groupe 18"/>
          <p:cNvGrpSpPr/>
          <p:nvPr/>
        </p:nvGrpSpPr>
        <p:grpSpPr>
          <a:xfrm>
            <a:off x="6836633" y="489897"/>
            <a:ext cx="1478424" cy="1366233"/>
            <a:chOff x="1032461" y="2782495"/>
            <a:chExt cx="544255" cy="518554"/>
          </a:xfrm>
        </p:grpSpPr>
        <p:sp>
          <p:nvSpPr>
            <p:cNvPr id="20" name="Ellipse 19"/>
            <p:cNvSpPr/>
            <p:nvPr/>
          </p:nvSpPr>
          <p:spPr>
            <a:xfrm>
              <a:off x="1045213" y="2782495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1032461" y="2852354"/>
              <a:ext cx="536501" cy="385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b="1" spc="50" dirty="0" smtClean="0">
                  <a:ln w="0">
                    <a:solidFill>
                      <a:srgbClr val="01ACC0"/>
                    </a:solidFill>
                  </a:ln>
                  <a:solidFill>
                    <a:srgbClr val="01ACC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03</a:t>
              </a:r>
              <a:endParaRPr lang="fr-FR" sz="2000" b="1" spc="50" dirty="0">
                <a:ln w="0">
                  <a:solidFill>
                    <a:srgbClr val="01ACC0"/>
                  </a:solidFill>
                </a:ln>
                <a:solidFill>
                  <a:srgbClr val="01ACC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43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oupe 237"/>
          <p:cNvGrpSpPr/>
          <p:nvPr/>
        </p:nvGrpSpPr>
        <p:grpSpPr>
          <a:xfrm>
            <a:off x="0" y="89293"/>
            <a:ext cx="9144000" cy="461665"/>
            <a:chOff x="0" y="86220"/>
            <a:chExt cx="9144000" cy="537256"/>
          </a:xfrm>
        </p:grpSpPr>
        <p:sp>
          <p:nvSpPr>
            <p:cNvPr id="239" name="Bouée 238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0" name="Bouée 239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41" name="Connecteur droit 240"/>
            <p:cNvCxnSpPr>
              <a:stCxn id="239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Connecteur droit 241"/>
            <p:cNvCxnSpPr>
              <a:endCxn id="240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3" name="ZoneTexte 242"/>
            <p:cNvSpPr txBox="1"/>
            <p:nvPr/>
          </p:nvSpPr>
          <p:spPr>
            <a:xfrm>
              <a:off x="2699022" y="86220"/>
              <a:ext cx="3390051" cy="537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2400" b="1" dirty="0" smtClean="0"/>
                <a:t>Technologies</a:t>
              </a:r>
              <a:endParaRPr lang="fr-FR" sz="2400" b="1" dirty="0"/>
            </a:p>
          </p:txBody>
        </p:sp>
      </p:grp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487" y="727805"/>
            <a:ext cx="2243523" cy="1546765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7" y="727805"/>
            <a:ext cx="2036031" cy="1546765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157" y="2913760"/>
            <a:ext cx="2036031" cy="1393038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487" y="2725509"/>
            <a:ext cx="2243523" cy="1581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>
            <a:spLocks noGrp="1"/>
          </p:cNvSpPr>
          <p:nvPr>
            <p:ph type="title"/>
          </p:nvPr>
        </p:nvSpPr>
        <p:spPr>
          <a:xfrm>
            <a:off x="5254043" y="2143561"/>
            <a:ext cx="3191882" cy="7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M" sz="4000" dirty="0" smtClean="0"/>
              <a:t>Analyses</a:t>
            </a:r>
            <a:endParaRPr sz="4000" dirty="0"/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214781">
            <a:off x="-1317392" y="3719766"/>
            <a:ext cx="7370835" cy="2084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32"/>
          <p:cNvGrpSpPr/>
          <p:nvPr/>
        </p:nvGrpSpPr>
        <p:grpSpPr>
          <a:xfrm>
            <a:off x="1537803" y="1907406"/>
            <a:ext cx="1187108" cy="220801"/>
            <a:chOff x="4592575" y="1091000"/>
            <a:chExt cx="793150" cy="147525"/>
          </a:xfrm>
        </p:grpSpPr>
        <p:sp>
          <p:nvSpPr>
            <p:cNvPr id="388" name="Google Shape;388;p32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7" name="Google Shape;397;p32"/>
          <p:cNvCxnSpPr/>
          <p:nvPr/>
        </p:nvCxnSpPr>
        <p:spPr>
          <a:xfrm rot="10800000">
            <a:off x="4683325" y="3938719"/>
            <a:ext cx="376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8" name="Google Shape;398;p32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1727011" y="2761955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71986" y="-206121"/>
            <a:ext cx="6109005" cy="496834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9" name="Groupe 18"/>
          <p:cNvGrpSpPr/>
          <p:nvPr/>
        </p:nvGrpSpPr>
        <p:grpSpPr>
          <a:xfrm>
            <a:off x="7101556" y="541173"/>
            <a:ext cx="1478424" cy="1366233"/>
            <a:chOff x="1032461" y="2782495"/>
            <a:chExt cx="544255" cy="518554"/>
          </a:xfrm>
        </p:grpSpPr>
        <p:sp>
          <p:nvSpPr>
            <p:cNvPr id="20" name="Ellipse 19"/>
            <p:cNvSpPr/>
            <p:nvPr/>
          </p:nvSpPr>
          <p:spPr>
            <a:xfrm>
              <a:off x="1045213" y="2782495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1032461" y="2852354"/>
              <a:ext cx="536501" cy="385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b="1" spc="50" dirty="0" smtClean="0">
                  <a:ln w="0">
                    <a:solidFill>
                      <a:srgbClr val="00B050"/>
                    </a:solidFill>
                  </a:ln>
                  <a:solidFill>
                    <a:srgbClr val="00B05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04</a:t>
              </a:r>
              <a:endParaRPr lang="fr-FR" sz="2000" b="1" spc="50" dirty="0">
                <a:ln w="0">
                  <a:solidFill>
                    <a:srgbClr val="00B050"/>
                  </a:solidFill>
                </a:ln>
                <a:solidFill>
                  <a:srgbClr val="00B05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125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3"/>
          <p:cNvSpPr/>
          <p:nvPr/>
        </p:nvSpPr>
        <p:spPr>
          <a:xfrm>
            <a:off x="1176795" y="1292660"/>
            <a:ext cx="176400" cy="17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3"/>
          <p:cNvSpPr txBox="1"/>
          <p:nvPr/>
        </p:nvSpPr>
        <p:spPr>
          <a:xfrm>
            <a:off x="1030994" y="981464"/>
            <a:ext cx="2523735" cy="521517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fr-CM" sz="3000" dirty="0" smtClean="0">
                <a:latin typeface="Halant SemiBold"/>
                <a:ea typeface="Halant SemiBold"/>
                <a:cs typeface="Halant SemiBold"/>
                <a:sym typeface="Halant SemiBold"/>
              </a:rPr>
              <a:t>Forces</a:t>
            </a:r>
            <a:r>
              <a:rPr lang="fr-CM" sz="3000" dirty="0" smtClean="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rPr>
              <a:t> </a:t>
            </a:r>
            <a:endParaRPr sz="3000" dirty="0">
              <a:solidFill>
                <a:schemeClr val="dk1"/>
              </a:solidFill>
              <a:latin typeface="Halant SemiBold"/>
              <a:ea typeface="Halant SemiBold"/>
              <a:cs typeface="Halant SemiBold"/>
              <a:sym typeface="Halant SemiBold"/>
            </a:endParaRPr>
          </a:p>
        </p:txBody>
      </p:sp>
      <p:sp>
        <p:nvSpPr>
          <p:cNvPr id="626" name="Google Shape;626;p43"/>
          <p:cNvSpPr txBox="1"/>
          <p:nvPr/>
        </p:nvSpPr>
        <p:spPr>
          <a:xfrm>
            <a:off x="4912904" y="930571"/>
            <a:ext cx="3190965" cy="501239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572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fr-CM" sz="3000" dirty="0" smtClean="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rPr>
              <a:t>Opportunités</a:t>
            </a:r>
            <a:endParaRPr sz="3000" dirty="0">
              <a:solidFill>
                <a:schemeClr val="dk1"/>
              </a:solidFill>
              <a:latin typeface="Halant SemiBold"/>
              <a:ea typeface="Halant SemiBold"/>
              <a:cs typeface="Halant SemiBold"/>
              <a:sym typeface="Halant SemiBold"/>
            </a:endParaRPr>
          </a:p>
        </p:txBody>
      </p:sp>
      <p:sp>
        <p:nvSpPr>
          <p:cNvPr id="632" name="Google Shape;632;p43"/>
          <p:cNvSpPr txBox="1"/>
          <p:nvPr/>
        </p:nvSpPr>
        <p:spPr>
          <a:xfrm>
            <a:off x="4893769" y="2764751"/>
            <a:ext cx="3210099" cy="563328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3000" dirty="0" smtClean="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rPr>
              <a:t>Ménaces</a:t>
            </a:r>
            <a:endParaRPr sz="3000" dirty="0">
              <a:solidFill>
                <a:schemeClr val="dk1"/>
              </a:solidFill>
              <a:latin typeface="Halant SemiBold"/>
              <a:ea typeface="Halant SemiBold"/>
              <a:cs typeface="Halant SemiBold"/>
              <a:sym typeface="Halant SemiBold"/>
            </a:endParaRPr>
          </a:p>
        </p:txBody>
      </p:sp>
      <p:sp>
        <p:nvSpPr>
          <p:cNvPr id="635" name="Google Shape;635;p43"/>
          <p:cNvSpPr txBox="1"/>
          <p:nvPr/>
        </p:nvSpPr>
        <p:spPr>
          <a:xfrm>
            <a:off x="1039224" y="2764752"/>
            <a:ext cx="2515505" cy="563328"/>
          </a:xfrm>
          <a:prstGeom prst="round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3000" dirty="0" smtClean="0">
                <a:latin typeface="Halant SemiBold"/>
                <a:ea typeface="Halant SemiBold"/>
                <a:cs typeface="Halant SemiBold"/>
                <a:sym typeface="Halant SemiBold"/>
              </a:rPr>
              <a:t>Faiblesses</a:t>
            </a:r>
            <a:endParaRPr sz="3000" dirty="0">
              <a:solidFill>
                <a:schemeClr val="dk1"/>
              </a:solidFill>
              <a:latin typeface="Halant SemiBold"/>
              <a:ea typeface="Halant SemiBold"/>
              <a:cs typeface="Halant SemiBold"/>
              <a:sym typeface="Halant SemiBold"/>
            </a:endParaRPr>
          </a:p>
        </p:txBody>
      </p:sp>
      <p:grpSp>
        <p:nvGrpSpPr>
          <p:cNvPr id="25" name="Groupe 24"/>
          <p:cNvGrpSpPr/>
          <p:nvPr/>
        </p:nvGrpSpPr>
        <p:grpSpPr>
          <a:xfrm>
            <a:off x="0" y="89293"/>
            <a:ext cx="9144000" cy="461665"/>
            <a:chOff x="0" y="86220"/>
            <a:chExt cx="9144000" cy="537256"/>
          </a:xfrm>
        </p:grpSpPr>
        <p:sp>
          <p:nvSpPr>
            <p:cNvPr id="26" name="Bouée 25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Bouée 26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8" name="Connecteur droit 27"/>
            <p:cNvCxnSpPr>
              <a:stCxn id="26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>
              <a:endCxn id="27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ZoneTexte 29"/>
            <p:cNvSpPr txBox="1"/>
            <p:nvPr/>
          </p:nvSpPr>
          <p:spPr>
            <a:xfrm>
              <a:off x="2699022" y="86220"/>
              <a:ext cx="3390051" cy="537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 smtClean="0"/>
                <a:t>Analyse</a:t>
              </a:r>
              <a:r>
                <a:rPr lang="en-US" sz="2400" b="1" dirty="0" smtClean="0"/>
                <a:t> SWOT</a:t>
              </a:r>
              <a:endParaRPr lang="fr-FR" sz="2400" b="1" dirty="0"/>
            </a:p>
          </p:txBody>
        </p:sp>
      </p:grp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742" y="159689"/>
            <a:ext cx="1367233" cy="127212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1" name="Text 2"/>
          <p:cNvSpPr/>
          <p:nvPr/>
        </p:nvSpPr>
        <p:spPr>
          <a:xfrm>
            <a:off x="1039225" y="1582992"/>
            <a:ext cx="2835545" cy="369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Gratuit, open source</a:t>
            </a:r>
            <a:endParaRPr lang="en-US" sz="1750" dirty="0"/>
          </a:p>
        </p:txBody>
      </p:sp>
      <p:sp>
        <p:nvSpPr>
          <p:cNvPr id="32" name="Text 3"/>
          <p:cNvSpPr/>
          <p:nvPr/>
        </p:nvSpPr>
        <p:spPr>
          <a:xfrm>
            <a:off x="1039225" y="2027622"/>
            <a:ext cx="2835545" cy="36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Modulaire, adaptable</a:t>
            </a:r>
            <a:endParaRPr lang="en-US" sz="1750" dirty="0"/>
          </a:p>
        </p:txBody>
      </p:sp>
      <p:sp>
        <p:nvSpPr>
          <p:cNvPr id="34" name="Text 8"/>
          <p:cNvSpPr/>
          <p:nvPr/>
        </p:nvSpPr>
        <p:spPr>
          <a:xfrm>
            <a:off x="4953371" y="1441250"/>
            <a:ext cx="3150499" cy="471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Fort besoin de digitalisation</a:t>
            </a:r>
            <a:endParaRPr lang="en-US" sz="1750" dirty="0"/>
          </a:p>
        </p:txBody>
      </p:sp>
      <p:sp>
        <p:nvSpPr>
          <p:cNvPr id="35" name="Text 9"/>
          <p:cNvSpPr/>
          <p:nvPr/>
        </p:nvSpPr>
        <p:spPr>
          <a:xfrm>
            <a:off x="4953371" y="1883448"/>
            <a:ext cx="3150499" cy="471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Extension mobile possible</a:t>
            </a:r>
            <a:endParaRPr lang="en-US" sz="1750" dirty="0"/>
          </a:p>
        </p:txBody>
      </p:sp>
      <p:sp>
        <p:nvSpPr>
          <p:cNvPr id="37" name="Text 5"/>
          <p:cNvSpPr/>
          <p:nvPr/>
        </p:nvSpPr>
        <p:spPr>
          <a:xfrm>
            <a:off x="1110661" y="3440470"/>
            <a:ext cx="3435310" cy="408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Maintenance technique interne</a:t>
            </a:r>
            <a:endParaRPr lang="en-US" sz="1750" dirty="0"/>
          </a:p>
        </p:txBody>
      </p:sp>
      <p:sp>
        <p:nvSpPr>
          <p:cNvPr id="38" name="Text 6"/>
          <p:cNvSpPr/>
          <p:nvPr/>
        </p:nvSpPr>
        <p:spPr>
          <a:xfrm>
            <a:off x="1110661" y="3882668"/>
            <a:ext cx="3435310" cy="408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Pas de support commercial</a:t>
            </a:r>
            <a:endParaRPr lang="en-US" sz="1750" dirty="0"/>
          </a:p>
        </p:txBody>
      </p:sp>
      <p:sp>
        <p:nvSpPr>
          <p:cNvPr id="40" name="Text 11"/>
          <p:cNvSpPr/>
          <p:nvPr/>
        </p:nvSpPr>
        <p:spPr>
          <a:xfrm>
            <a:off x="4893770" y="3390664"/>
            <a:ext cx="3807619" cy="431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Concurrence d'ERP commerciaux</a:t>
            </a:r>
            <a:endParaRPr lang="en-US" sz="1750" dirty="0"/>
          </a:p>
        </p:txBody>
      </p:sp>
      <p:sp>
        <p:nvSpPr>
          <p:cNvPr id="41" name="Text 12"/>
          <p:cNvSpPr/>
          <p:nvPr/>
        </p:nvSpPr>
        <p:spPr>
          <a:xfrm>
            <a:off x="4893770" y="3832862"/>
            <a:ext cx="3807619" cy="431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Réticence aux outils libres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6"/>
          <p:cNvSpPr/>
          <p:nvPr/>
        </p:nvSpPr>
        <p:spPr>
          <a:xfrm>
            <a:off x="0" y="1092445"/>
            <a:ext cx="8926830" cy="629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Shape 14"/>
          <p:cNvSpPr/>
          <p:nvPr/>
        </p:nvSpPr>
        <p:spPr>
          <a:xfrm>
            <a:off x="0" y="2393084"/>
            <a:ext cx="8926830" cy="629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Shape 22"/>
          <p:cNvSpPr/>
          <p:nvPr/>
        </p:nvSpPr>
        <p:spPr>
          <a:xfrm>
            <a:off x="0" y="3693723"/>
            <a:ext cx="8926830" cy="629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grpSp>
        <p:nvGrpSpPr>
          <p:cNvPr id="56" name="Groupe 55"/>
          <p:cNvGrpSpPr/>
          <p:nvPr/>
        </p:nvGrpSpPr>
        <p:grpSpPr>
          <a:xfrm>
            <a:off x="0" y="89293"/>
            <a:ext cx="9144000" cy="461665"/>
            <a:chOff x="0" y="86220"/>
            <a:chExt cx="9144000" cy="537256"/>
          </a:xfrm>
        </p:grpSpPr>
        <p:sp>
          <p:nvSpPr>
            <p:cNvPr id="57" name="Bouée 56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8" name="Bouée 57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59" name="Connecteur droit 58"/>
            <p:cNvCxnSpPr>
              <a:stCxn id="57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onnecteur droit 59"/>
            <p:cNvCxnSpPr>
              <a:endCxn id="58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ZoneTexte 60"/>
            <p:cNvSpPr txBox="1"/>
            <p:nvPr/>
          </p:nvSpPr>
          <p:spPr>
            <a:xfrm>
              <a:off x="2699022" y="86220"/>
              <a:ext cx="3390051" cy="537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2400" b="1" dirty="0" smtClean="0"/>
                <a:t>Analyse FAST</a:t>
              </a:r>
              <a:endParaRPr lang="fr-FR" sz="2400" b="1" dirty="0"/>
            </a:p>
          </p:txBody>
        </p:sp>
      </p:grpSp>
      <p:sp>
        <p:nvSpPr>
          <p:cNvPr id="11" name="Shape 1"/>
          <p:cNvSpPr/>
          <p:nvPr/>
        </p:nvSpPr>
        <p:spPr>
          <a:xfrm>
            <a:off x="0" y="1092445"/>
            <a:ext cx="8926830" cy="3790218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3"/>
          <p:cNvSpPr/>
          <p:nvPr/>
        </p:nvSpPr>
        <p:spPr>
          <a:xfrm>
            <a:off x="368055" y="1140234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Fonction</a:t>
            </a:r>
            <a:endParaRPr lang="en-US" sz="1750" b="1" dirty="0"/>
          </a:p>
        </p:txBody>
      </p:sp>
      <p:sp>
        <p:nvSpPr>
          <p:cNvPr id="14" name="Text 4"/>
          <p:cNvSpPr/>
          <p:nvPr/>
        </p:nvSpPr>
        <p:spPr>
          <a:xfrm>
            <a:off x="2711121" y="1140234"/>
            <a:ext cx="1732292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Pourquoi ?</a:t>
            </a:r>
            <a:endParaRPr lang="en-US" sz="1750" b="1" dirty="0"/>
          </a:p>
        </p:txBody>
      </p:sp>
      <p:sp>
        <p:nvSpPr>
          <p:cNvPr id="15" name="Text 5"/>
          <p:cNvSpPr/>
          <p:nvPr/>
        </p:nvSpPr>
        <p:spPr>
          <a:xfrm>
            <a:off x="5614663" y="1140234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Comment ?</a:t>
            </a:r>
            <a:endParaRPr lang="en-US" sz="1750" b="1" dirty="0"/>
          </a:p>
        </p:txBody>
      </p:sp>
      <p:sp>
        <p:nvSpPr>
          <p:cNvPr id="17" name="Text 7"/>
          <p:cNvSpPr/>
          <p:nvPr/>
        </p:nvSpPr>
        <p:spPr>
          <a:xfrm>
            <a:off x="368055" y="1790554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Gérer les ventes</a:t>
            </a:r>
            <a:endParaRPr lang="en-US" sz="1750" dirty="0"/>
          </a:p>
        </p:txBody>
      </p:sp>
      <p:sp>
        <p:nvSpPr>
          <p:cNvPr id="18" name="Text 8"/>
          <p:cNvSpPr/>
          <p:nvPr/>
        </p:nvSpPr>
        <p:spPr>
          <a:xfrm>
            <a:off x="2711121" y="1790554"/>
            <a:ext cx="1732292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Suivre le commercial</a:t>
            </a:r>
            <a:endParaRPr lang="en-US" sz="1750" dirty="0"/>
          </a:p>
        </p:txBody>
      </p:sp>
      <p:sp>
        <p:nvSpPr>
          <p:cNvPr id="19" name="Text 9"/>
          <p:cNvSpPr/>
          <p:nvPr/>
        </p:nvSpPr>
        <p:spPr>
          <a:xfrm>
            <a:off x="5614663" y="1790554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Module CRM + devis/factures</a:t>
            </a:r>
            <a:endParaRPr lang="en-US" sz="1750" dirty="0"/>
          </a:p>
        </p:txBody>
      </p:sp>
      <p:sp>
        <p:nvSpPr>
          <p:cNvPr id="21" name="Text 11"/>
          <p:cNvSpPr/>
          <p:nvPr/>
        </p:nvSpPr>
        <p:spPr>
          <a:xfrm>
            <a:off x="368055" y="2440873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Gérer le stock</a:t>
            </a:r>
            <a:endParaRPr lang="en-US" sz="1750" dirty="0"/>
          </a:p>
        </p:txBody>
      </p:sp>
      <p:sp>
        <p:nvSpPr>
          <p:cNvPr id="22" name="Text 12"/>
          <p:cNvSpPr/>
          <p:nvPr/>
        </p:nvSpPr>
        <p:spPr>
          <a:xfrm>
            <a:off x="2711121" y="2440873"/>
            <a:ext cx="1732292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Éviter les ruptures</a:t>
            </a:r>
            <a:endParaRPr lang="en-US" sz="1750" dirty="0"/>
          </a:p>
        </p:txBody>
      </p:sp>
      <p:sp>
        <p:nvSpPr>
          <p:cNvPr id="23" name="Text 13"/>
          <p:cNvSpPr/>
          <p:nvPr/>
        </p:nvSpPr>
        <p:spPr>
          <a:xfrm>
            <a:off x="5614663" y="2440873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Inventaire avec seuil d'alerte</a:t>
            </a:r>
            <a:endParaRPr lang="en-US" sz="1750" dirty="0"/>
          </a:p>
        </p:txBody>
      </p:sp>
      <p:sp>
        <p:nvSpPr>
          <p:cNvPr id="25" name="Text 15"/>
          <p:cNvSpPr/>
          <p:nvPr/>
        </p:nvSpPr>
        <p:spPr>
          <a:xfrm>
            <a:off x="368055" y="3091193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Gérer la paie</a:t>
            </a:r>
            <a:endParaRPr lang="en-US" sz="1750" dirty="0"/>
          </a:p>
        </p:txBody>
      </p:sp>
      <p:sp>
        <p:nvSpPr>
          <p:cNvPr id="26" name="Text 16"/>
          <p:cNvSpPr/>
          <p:nvPr/>
        </p:nvSpPr>
        <p:spPr>
          <a:xfrm>
            <a:off x="2711121" y="3091193"/>
            <a:ext cx="1732292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Organiser le RH</a:t>
            </a:r>
            <a:endParaRPr lang="en-US" sz="1750" dirty="0"/>
          </a:p>
        </p:txBody>
      </p:sp>
      <p:sp>
        <p:nvSpPr>
          <p:cNvPr id="27" name="Text 17"/>
          <p:cNvSpPr/>
          <p:nvPr/>
        </p:nvSpPr>
        <p:spPr>
          <a:xfrm>
            <a:off x="5614663" y="3091193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Module congés + fiches de paie</a:t>
            </a:r>
            <a:endParaRPr lang="en-US" sz="1750" dirty="0"/>
          </a:p>
        </p:txBody>
      </p:sp>
      <p:sp>
        <p:nvSpPr>
          <p:cNvPr id="29" name="Text 19"/>
          <p:cNvSpPr/>
          <p:nvPr/>
        </p:nvSpPr>
        <p:spPr>
          <a:xfrm>
            <a:off x="368055" y="3741512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Comptabilité</a:t>
            </a:r>
            <a:endParaRPr lang="en-US" sz="1750" dirty="0"/>
          </a:p>
        </p:txBody>
      </p:sp>
      <p:sp>
        <p:nvSpPr>
          <p:cNvPr id="30" name="Text 20"/>
          <p:cNvSpPr/>
          <p:nvPr/>
        </p:nvSpPr>
        <p:spPr>
          <a:xfrm>
            <a:off x="2711121" y="3741512"/>
            <a:ext cx="1732292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Suivre finances</a:t>
            </a:r>
            <a:endParaRPr lang="en-US" sz="1750" dirty="0"/>
          </a:p>
        </p:txBody>
      </p:sp>
      <p:sp>
        <p:nvSpPr>
          <p:cNvPr id="31" name="Text 21"/>
          <p:cNvSpPr/>
          <p:nvPr/>
        </p:nvSpPr>
        <p:spPr>
          <a:xfrm>
            <a:off x="5614663" y="3741512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Bilan, rapport simplifié</a:t>
            </a:r>
            <a:endParaRPr lang="en-US" sz="1750" dirty="0"/>
          </a:p>
        </p:txBody>
      </p:sp>
      <p:sp>
        <p:nvSpPr>
          <p:cNvPr id="33" name="Text 23"/>
          <p:cNvSpPr/>
          <p:nvPr/>
        </p:nvSpPr>
        <p:spPr>
          <a:xfrm>
            <a:off x="368055" y="4391831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Statistiques</a:t>
            </a:r>
            <a:endParaRPr lang="en-US" sz="1750" dirty="0"/>
          </a:p>
        </p:txBody>
      </p:sp>
      <p:sp>
        <p:nvSpPr>
          <p:cNvPr id="34" name="Text 24"/>
          <p:cNvSpPr/>
          <p:nvPr/>
        </p:nvSpPr>
        <p:spPr>
          <a:xfrm>
            <a:off x="2711121" y="4391831"/>
            <a:ext cx="1732292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Décision rapide</a:t>
            </a:r>
            <a:endParaRPr lang="en-US" sz="1750" dirty="0"/>
          </a:p>
        </p:txBody>
      </p:sp>
      <p:sp>
        <p:nvSpPr>
          <p:cNvPr id="35" name="Text 25"/>
          <p:cNvSpPr/>
          <p:nvPr/>
        </p:nvSpPr>
        <p:spPr>
          <a:xfrm>
            <a:off x="5614663" y="4391831"/>
            <a:ext cx="1733993" cy="35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Tableau de bord dynamique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e 55"/>
          <p:cNvGrpSpPr/>
          <p:nvPr/>
        </p:nvGrpSpPr>
        <p:grpSpPr>
          <a:xfrm>
            <a:off x="0" y="89293"/>
            <a:ext cx="9144000" cy="461665"/>
            <a:chOff x="0" y="86220"/>
            <a:chExt cx="9144000" cy="537256"/>
          </a:xfrm>
        </p:grpSpPr>
        <p:sp>
          <p:nvSpPr>
            <p:cNvPr id="57" name="Bouée 56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8" name="Bouée 57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59" name="Connecteur droit 58"/>
            <p:cNvCxnSpPr>
              <a:stCxn id="57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onnecteur droit 59"/>
            <p:cNvCxnSpPr>
              <a:endCxn id="58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ZoneTexte 60"/>
            <p:cNvSpPr txBox="1"/>
            <p:nvPr/>
          </p:nvSpPr>
          <p:spPr>
            <a:xfrm>
              <a:off x="2699022" y="86220"/>
              <a:ext cx="3390051" cy="537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2400" b="1" dirty="0" smtClean="0"/>
                <a:t>Analyse SADT</a:t>
              </a:r>
              <a:endParaRPr lang="fr-FR" sz="2400" b="1" dirty="0"/>
            </a:p>
          </p:txBody>
        </p:sp>
      </p:grpSp>
      <p:sp>
        <p:nvSpPr>
          <p:cNvPr id="2" name="Rectangle à coins arrondis 1"/>
          <p:cNvSpPr/>
          <p:nvPr/>
        </p:nvSpPr>
        <p:spPr>
          <a:xfrm>
            <a:off x="3131803" y="754380"/>
            <a:ext cx="2638788" cy="105156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M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Interactions système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Flèche vers le bas 8"/>
          <p:cNvSpPr/>
          <p:nvPr/>
        </p:nvSpPr>
        <p:spPr>
          <a:xfrm rot="16200000">
            <a:off x="2137972" y="469867"/>
            <a:ext cx="367077" cy="1620585"/>
          </a:xfrm>
          <a:prstGeom prst="downArrow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Flèche vers le bas 37"/>
          <p:cNvSpPr/>
          <p:nvPr/>
        </p:nvSpPr>
        <p:spPr>
          <a:xfrm rot="16200000">
            <a:off x="6397345" y="469867"/>
            <a:ext cx="367077" cy="1620585"/>
          </a:xfrm>
          <a:prstGeom prst="downArrow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Flèche vers le bas 38"/>
          <p:cNvSpPr/>
          <p:nvPr/>
        </p:nvSpPr>
        <p:spPr>
          <a:xfrm>
            <a:off x="3428665" y="1805941"/>
            <a:ext cx="367077" cy="628650"/>
          </a:xfrm>
          <a:prstGeom prst="downArrow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Flèche vers le bas 39"/>
          <p:cNvSpPr/>
          <p:nvPr/>
        </p:nvSpPr>
        <p:spPr>
          <a:xfrm>
            <a:off x="5219365" y="1805941"/>
            <a:ext cx="367077" cy="628650"/>
          </a:xfrm>
          <a:prstGeom prst="downArrow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458325" y="865183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Entrées</a:t>
            </a:r>
            <a:endParaRPr lang="en-US" dirty="0"/>
          </a:p>
        </p:txBody>
      </p:sp>
      <p:sp>
        <p:nvSpPr>
          <p:cNvPr id="42" name="ZoneTexte 41"/>
          <p:cNvSpPr txBox="1"/>
          <p:nvPr/>
        </p:nvSpPr>
        <p:spPr>
          <a:xfrm>
            <a:off x="1458325" y="1486142"/>
            <a:ext cx="2018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dirty="0" smtClean="0"/>
              <a:t>Données métier, utilisateurs</a:t>
            </a:r>
            <a:endParaRPr lang="en-US" dirty="0"/>
          </a:p>
        </p:txBody>
      </p:sp>
      <p:graphicFrame>
        <p:nvGraphicFramePr>
          <p:cNvPr id="20" name="Tableau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763980"/>
              </p:ext>
            </p:extLst>
          </p:nvPr>
        </p:nvGraphicFramePr>
        <p:xfrm>
          <a:off x="3234031" y="2434591"/>
          <a:ext cx="2855042" cy="791210"/>
        </p:xfrm>
        <a:graphic>
          <a:graphicData uri="http://schemas.openxmlformats.org/drawingml/2006/table">
            <a:tbl>
              <a:tblPr firstRow="1" bandRow="1">
                <a:tableStyleId>{7276F517-DD63-4AC9-8623-2DE87BC0A1ED}</a:tableStyleId>
              </a:tblPr>
              <a:tblGrid>
                <a:gridCol w="1427521">
                  <a:extLst>
                    <a:ext uri="{9D8B030D-6E8A-4147-A177-3AD203B41FA5}">
                      <a16:colId xmlns:a16="http://schemas.microsoft.com/office/drawing/2014/main" val="1486982390"/>
                    </a:ext>
                  </a:extLst>
                </a:gridCol>
                <a:gridCol w="1427521">
                  <a:extLst>
                    <a:ext uri="{9D8B030D-6E8A-4147-A177-3AD203B41FA5}">
                      <a16:colId xmlns:a16="http://schemas.microsoft.com/office/drawing/2014/main" val="3777180495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r>
                        <a:rPr lang="fr-CM" dirty="0" smtClean="0"/>
                        <a:t>Ventes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 smtClean="0"/>
                        <a:t>Factures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28399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CM" dirty="0" smtClean="0"/>
                        <a:t>Niveau</a:t>
                      </a:r>
                      <a:r>
                        <a:rPr lang="fr-CM" baseline="0" dirty="0" smtClean="0"/>
                        <a:t> A0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92462"/>
                  </a:ext>
                </a:extLst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183452"/>
              </p:ext>
            </p:extLst>
          </p:nvPr>
        </p:nvGraphicFramePr>
        <p:xfrm>
          <a:off x="3234031" y="3362082"/>
          <a:ext cx="2855042" cy="741680"/>
        </p:xfrm>
        <a:graphic>
          <a:graphicData uri="http://schemas.openxmlformats.org/drawingml/2006/table">
            <a:tbl>
              <a:tblPr firstRow="1" bandRow="1">
                <a:tableStyleId>{7276F517-DD63-4AC9-8623-2DE87BC0A1ED}</a:tableStyleId>
              </a:tblPr>
              <a:tblGrid>
                <a:gridCol w="1427521">
                  <a:extLst>
                    <a:ext uri="{9D8B030D-6E8A-4147-A177-3AD203B41FA5}">
                      <a16:colId xmlns:a16="http://schemas.microsoft.com/office/drawing/2014/main" val="4022885493"/>
                    </a:ext>
                  </a:extLst>
                </a:gridCol>
                <a:gridCol w="1427521">
                  <a:extLst>
                    <a:ext uri="{9D8B030D-6E8A-4147-A177-3AD203B41FA5}">
                      <a16:colId xmlns:a16="http://schemas.microsoft.com/office/drawing/2014/main" val="2681583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M" dirty="0" smtClean="0"/>
                        <a:t>RH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 smtClean="0"/>
                        <a:t>Fiches paie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24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M" dirty="0" smtClean="0"/>
                        <a:t>Transactions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 smtClean="0"/>
                        <a:t>Normes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21130"/>
                  </a:ext>
                </a:extLst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85373"/>
              </p:ext>
            </p:extLst>
          </p:nvPr>
        </p:nvGraphicFramePr>
        <p:xfrm>
          <a:off x="3234031" y="4240043"/>
          <a:ext cx="2855042" cy="741680"/>
        </p:xfrm>
        <a:graphic>
          <a:graphicData uri="http://schemas.openxmlformats.org/drawingml/2006/table">
            <a:tbl>
              <a:tblPr firstRow="1" bandRow="1">
                <a:tableStyleId>{7276F517-DD63-4AC9-8623-2DE87BC0A1ED}</a:tableStyleId>
              </a:tblPr>
              <a:tblGrid>
                <a:gridCol w="1427521">
                  <a:extLst>
                    <a:ext uri="{9D8B030D-6E8A-4147-A177-3AD203B41FA5}">
                      <a16:colId xmlns:a16="http://schemas.microsoft.com/office/drawing/2014/main" val="4022885493"/>
                    </a:ext>
                  </a:extLst>
                </a:gridCol>
                <a:gridCol w="1427521">
                  <a:extLst>
                    <a:ext uri="{9D8B030D-6E8A-4147-A177-3AD203B41FA5}">
                      <a16:colId xmlns:a16="http://schemas.microsoft.com/office/drawing/2014/main" val="2681583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M" dirty="0" smtClean="0"/>
                        <a:t>Stock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 smtClean="0"/>
                        <a:t>Niveaux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24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M" dirty="0" smtClean="0"/>
                        <a:t>Transactions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 smtClean="0"/>
                        <a:t>Normes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21130"/>
                  </a:ext>
                </a:extLst>
              </a:tr>
            </a:tbl>
          </a:graphicData>
        </a:graphic>
      </p:graphicFrame>
      <p:sp>
        <p:nvSpPr>
          <p:cNvPr id="47" name="ZoneTexte 46"/>
          <p:cNvSpPr txBox="1"/>
          <p:nvPr/>
        </p:nvSpPr>
        <p:spPr>
          <a:xfrm>
            <a:off x="6063977" y="852011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Mécanisme</a:t>
            </a:r>
            <a:endParaRPr lang="en-US" dirty="0"/>
          </a:p>
        </p:txBody>
      </p:sp>
      <p:sp>
        <p:nvSpPr>
          <p:cNvPr id="48" name="ZoneTexte 47"/>
          <p:cNvSpPr txBox="1"/>
          <p:nvPr/>
        </p:nvSpPr>
        <p:spPr>
          <a:xfrm>
            <a:off x="5958316" y="1383624"/>
            <a:ext cx="2018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dirty="0" smtClean="0"/>
              <a:t>Logiciels, API, Serveur</a:t>
            </a:r>
            <a:endParaRPr lang="en-US" dirty="0"/>
          </a:p>
        </p:txBody>
      </p:sp>
      <p:sp>
        <p:nvSpPr>
          <p:cNvPr id="49" name="ZoneTexte 48"/>
          <p:cNvSpPr txBox="1"/>
          <p:nvPr/>
        </p:nvSpPr>
        <p:spPr>
          <a:xfrm>
            <a:off x="4096011" y="1923392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Contrôle</a:t>
            </a:r>
            <a:endParaRPr lang="en-US" dirty="0"/>
          </a:p>
        </p:txBody>
      </p:sp>
      <p:sp>
        <p:nvSpPr>
          <p:cNvPr id="50" name="ZoneTexte 49"/>
          <p:cNvSpPr txBox="1"/>
          <p:nvPr/>
        </p:nvSpPr>
        <p:spPr>
          <a:xfrm>
            <a:off x="1967504" y="2587235"/>
            <a:ext cx="1199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Commandes</a:t>
            </a:r>
            <a:endParaRPr lang="en-US" dirty="0"/>
          </a:p>
        </p:txBody>
      </p:sp>
      <p:sp>
        <p:nvSpPr>
          <p:cNvPr id="51" name="ZoneTexte 50"/>
          <p:cNvSpPr txBox="1"/>
          <p:nvPr/>
        </p:nvSpPr>
        <p:spPr>
          <a:xfrm>
            <a:off x="1954530" y="3362082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Employés</a:t>
            </a:r>
            <a:endParaRPr lang="en-US" dirty="0"/>
          </a:p>
        </p:txBody>
      </p:sp>
      <p:sp>
        <p:nvSpPr>
          <p:cNvPr id="52" name="ZoneTexte 51"/>
          <p:cNvSpPr txBox="1"/>
          <p:nvPr/>
        </p:nvSpPr>
        <p:spPr>
          <a:xfrm>
            <a:off x="2251233" y="4416942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Stock</a:t>
            </a:r>
            <a:endParaRPr lang="en-US" dirty="0"/>
          </a:p>
        </p:txBody>
      </p:sp>
      <p:sp>
        <p:nvSpPr>
          <p:cNvPr id="53" name="ZoneTexte 52"/>
          <p:cNvSpPr txBox="1"/>
          <p:nvPr/>
        </p:nvSpPr>
        <p:spPr>
          <a:xfrm>
            <a:off x="6299824" y="2609611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Module CRM</a:t>
            </a:r>
            <a:endParaRPr lang="en-US" dirty="0"/>
          </a:p>
        </p:txBody>
      </p:sp>
      <p:sp>
        <p:nvSpPr>
          <p:cNvPr id="54" name="ZoneTexte 53"/>
          <p:cNvSpPr txBox="1"/>
          <p:nvPr/>
        </p:nvSpPr>
        <p:spPr>
          <a:xfrm>
            <a:off x="6336041" y="3527821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Module RH</a:t>
            </a:r>
            <a:endParaRPr lang="en-US" dirty="0"/>
          </a:p>
        </p:txBody>
      </p:sp>
      <p:sp>
        <p:nvSpPr>
          <p:cNvPr id="62" name="ZoneTexte 61"/>
          <p:cNvSpPr txBox="1"/>
          <p:nvPr/>
        </p:nvSpPr>
        <p:spPr>
          <a:xfrm>
            <a:off x="6336040" y="4416044"/>
            <a:ext cx="126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dirty="0" smtClean="0"/>
              <a:t>Module Stock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8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47"/>
          <p:cNvPicPr preferRelativeResize="0"/>
          <p:nvPr/>
        </p:nvPicPr>
        <p:blipFill rotWithShape="1">
          <a:blip r:embed="rId3">
            <a:alphaModFix/>
          </a:blip>
          <a:srcRect l="3193" t="7138" r="8098" b="5380"/>
          <a:stretch/>
        </p:blipFill>
        <p:spPr>
          <a:xfrm rot="1748394">
            <a:off x="-1869006" y="3129379"/>
            <a:ext cx="6333635" cy="1828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424" y="2014569"/>
            <a:ext cx="5376961" cy="254003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Relaxed"/>
            <a:lightRig rig="threePt" dir="t">
              <a:rot lat="0" lon="0" rev="2700000"/>
            </a:lightRig>
          </a:scene3d>
          <a:sp3d>
            <a:bevelT w="63500" h="50800" prst="cross"/>
          </a:sp3d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111" y="278462"/>
            <a:ext cx="3898051" cy="3472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ediatric Burns Treatment Medical Center by Slidesgo">
  <a:themeElements>
    <a:clrScheme name="Simple Light">
      <a:dk1>
        <a:srgbClr val="0F090A"/>
      </a:dk1>
      <a:lt1>
        <a:srgbClr val="F0F6ED"/>
      </a:lt1>
      <a:dk2>
        <a:srgbClr val="46A599"/>
      </a:dk2>
      <a:lt2>
        <a:srgbClr val="8FC3B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F09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accent1"/>
          </a:solidFill>
        </a:ln>
      </a:spPr>
      <a:bodyPr rtlCol="0" anchor="ctr"/>
      <a:lstStyle>
        <a:defPPr algn="ctr">
          <a:defRPr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13515</TotalTime>
  <Words>283</Words>
  <Application>Microsoft Office PowerPoint</Application>
  <PresentationFormat>Affichage à l'écran (16:9)</PresentationFormat>
  <Paragraphs>107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6" baseType="lpstr">
      <vt:lpstr>Platypi Medium</vt:lpstr>
      <vt:lpstr>Source Serif Pro</vt:lpstr>
      <vt:lpstr>Arial</vt:lpstr>
      <vt:lpstr>Gudea</vt:lpstr>
      <vt:lpstr>Wingdings</vt:lpstr>
      <vt:lpstr>Halant Medium</vt:lpstr>
      <vt:lpstr>Halant SemiBold</vt:lpstr>
      <vt:lpstr>Times New Roman</vt:lpstr>
      <vt:lpstr>Raleway</vt:lpstr>
      <vt:lpstr>Pediatric Burns Treatment Medical Center by Slidesgo</vt:lpstr>
      <vt:lpstr>Présentation PowerPoint</vt:lpstr>
      <vt:lpstr>Présentation PowerPoint</vt:lpstr>
      <vt:lpstr>Présentation PowerPoint</vt:lpstr>
      <vt:lpstr>DESCRIPTION DU PROJET</vt:lpstr>
      <vt:lpstr>Présentation PowerPoint</vt:lpstr>
      <vt:lpstr>Présentation PowerPoint</vt:lpstr>
      <vt:lpstr>Fonctionnalités</vt:lpstr>
      <vt:lpstr>Présentation PowerPoint</vt:lpstr>
      <vt:lpstr>Présentation PowerPoint</vt:lpstr>
      <vt:lpstr>Technologies</vt:lpstr>
      <vt:lpstr>Présentation PowerPoint</vt:lpstr>
      <vt:lpstr>Analyses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Pediatric Burns Treatment Medical Center</dc:title>
  <dc:creator>CHOWUINOU TEGUIA</dc:creator>
  <cp:lastModifiedBy>Alphred TATONG</cp:lastModifiedBy>
  <cp:revision>95</cp:revision>
  <dcterms:modified xsi:type="dcterms:W3CDTF">2025-07-29T05:47:09Z</dcterms:modified>
</cp:coreProperties>
</file>