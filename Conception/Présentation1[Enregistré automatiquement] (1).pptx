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74" r:id="rId6"/>
    <p:sldId id="260" r:id="rId7"/>
    <p:sldId id="268" r:id="rId8"/>
    <p:sldId id="262" r:id="rId9"/>
    <p:sldId id="272" r:id="rId10"/>
    <p:sldId id="263" r:id="rId11"/>
    <p:sldId id="270" r:id="rId12"/>
    <p:sldId id="271" r:id="rId13"/>
    <p:sldId id="264" r:id="rId14"/>
    <p:sldId id="265" r:id="rId15"/>
    <p:sldId id="267" r:id="rId16"/>
    <p:sldId id="266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87"/>
    <p:restoredTop sz="94680"/>
  </p:normalViewPr>
  <p:slideViewPr>
    <p:cSldViewPr snapToGrid="0">
      <p:cViewPr>
        <p:scale>
          <a:sx n="94" d="100"/>
          <a:sy n="94" d="100"/>
        </p:scale>
        <p:origin x="144" y="2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49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05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15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90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96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870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53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11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122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60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A905E-B290-AF49-B3CB-4DE2AAF6778B}" type="datetimeFigureOut">
              <a:rPr lang="fr-FR" smtClean="0"/>
              <a:t>22/07/2025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3ACA27C-CFA2-2C49-BA5D-C74D62E49F5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39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22D434-0DD4-0E5C-E05E-650FC55C13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L'ERP Universel : Analyse Fonctionnelle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986430-E086-8FD9-583B-FDEEC30655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M" b="0" i="1" dirty="0">
                <a:solidFill>
                  <a:srgbClr val="404040"/>
                </a:solidFill>
                <a:effectLst/>
                <a:latin typeface="quote-cjk-patch"/>
              </a:rPr>
              <a:t>Un système modulaire pour tous les secteurs d'activité</a:t>
            </a:r>
          </a:p>
          <a:p>
            <a:r>
              <a:rPr lang="fr-CM" dirty="0">
                <a:effectLst/>
              </a:rPr>
              <a:t>De la modélisation fonctionnelle à la stratégie d'implémentation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3009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250" advTm="4091">
        <p14:glitter pattern="hexagon"/>
      </p:transition>
    </mc:Choice>
    <mc:Fallback>
      <p:transition spd="slow" advTm="409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59A277-ED85-3C7A-C2D8-789B5781F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66497"/>
            <a:ext cx="9603275" cy="1049235"/>
          </a:xfrm>
        </p:spPr>
        <p:txBody>
          <a:bodyPr/>
          <a:lstStyle/>
          <a:p>
            <a:r>
              <a:rPr lang="fr-CM" dirty="0">
                <a:effectLst/>
              </a:rPr>
              <a:t>Feuille de Route de Présentation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4BF7C3-569A-D2C7-3173-CCE8337AF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CM" b="1" dirty="0"/>
              <a:t>Introduction</a:t>
            </a:r>
            <a:endParaRPr lang="fr-CM" b="1" dirty="0">
              <a:effectLst/>
            </a:endParaRPr>
          </a:p>
          <a:p>
            <a:pPr marL="457200" indent="-457200">
              <a:buFont typeface="+mj-lt"/>
              <a:buAutoNum type="arabicPeriod"/>
            </a:pPr>
            <a:r>
              <a:rPr lang="fr-CM" b="1" dirty="0">
                <a:effectLst/>
              </a:rPr>
              <a:t>Définition de l’ERP</a:t>
            </a:r>
          </a:p>
          <a:p>
            <a:pPr marL="457200" indent="-457200">
              <a:buFont typeface="+mj-lt"/>
              <a:buAutoNum type="arabicPeriod"/>
            </a:pPr>
            <a:r>
              <a:rPr lang="fr-CM" sz="2300" b="1" dirty="0"/>
              <a:t>Logiciel utilisé</a:t>
            </a:r>
          </a:p>
          <a:p>
            <a:pPr marL="457200" indent="-457200">
              <a:buFont typeface="+mj-lt"/>
              <a:buAutoNum type="arabicPeriod"/>
            </a:pPr>
            <a:r>
              <a:rPr lang="fr-CM" b="1" dirty="0">
                <a:effectLst/>
              </a:rPr>
              <a:t>Fonctions fondamentales</a:t>
            </a:r>
          </a:p>
          <a:p>
            <a:pPr marL="457200" indent="-457200">
              <a:buFont typeface="+mj-lt"/>
              <a:buAutoNum type="arabicPeriod"/>
            </a:pPr>
            <a:r>
              <a:rPr lang="fr-CM" b="1" dirty="0"/>
              <a:t>Outils d'Analyse Fonctionnelle</a:t>
            </a:r>
            <a:endParaRPr lang="fr-CM" dirty="0"/>
          </a:p>
          <a:p>
            <a:pPr marL="457200" indent="-457200">
              <a:buFont typeface="+mj-lt"/>
              <a:buAutoNum type="arabicPeriod"/>
            </a:pPr>
            <a:r>
              <a:rPr lang="fr-CM" b="1" dirty="0">
                <a:effectLst/>
              </a:rPr>
              <a:t>Analyse SWOT</a:t>
            </a:r>
            <a:endParaRPr lang="fr-CM" dirty="0"/>
          </a:p>
          <a:p>
            <a:pPr marL="457200" indent="-457200">
              <a:buFont typeface="+mj-lt"/>
              <a:buAutoNum type="arabicPeriod"/>
            </a:pPr>
            <a:r>
              <a:rPr lang="fr-CM" b="1" dirty="0">
                <a:effectLst/>
              </a:rPr>
              <a:t>Modélisation FAST</a:t>
            </a:r>
            <a:endParaRPr lang="fr-CM" dirty="0"/>
          </a:p>
          <a:p>
            <a:pPr marL="457200" indent="-457200">
              <a:buFont typeface="+mj-lt"/>
              <a:buAutoNum type="arabicPeriod"/>
            </a:pPr>
            <a:r>
              <a:rPr lang="fr-CM" b="1" dirty="0">
                <a:effectLst/>
              </a:rPr>
              <a:t>Modélisation SADT</a:t>
            </a:r>
            <a:endParaRPr lang="fr-CM" dirty="0"/>
          </a:p>
          <a:p>
            <a:pPr marL="457200" indent="-457200">
              <a:buFont typeface="+mj-lt"/>
              <a:buAutoNum type="arabicPeriod"/>
            </a:pPr>
            <a:r>
              <a:rPr lang="fr-CM" b="1" dirty="0">
                <a:effectLst/>
              </a:rPr>
              <a:t>Architecture modulaire</a:t>
            </a:r>
            <a:endParaRPr lang="fr-CM" dirty="0"/>
          </a:p>
          <a:p>
            <a:pPr marL="457200" indent="-457200">
              <a:buFont typeface="+mj-lt"/>
              <a:buAutoNum type="arabicPeriod"/>
            </a:pPr>
            <a:r>
              <a:rPr lang="fr-CM" b="1" dirty="0">
                <a:effectLst/>
              </a:rPr>
              <a:t>Conclusion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65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7A6007-B27A-CD9E-8FFF-169447E9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0668"/>
            <a:ext cx="9603275" cy="1049866"/>
          </a:xfrm>
        </p:spPr>
        <p:txBody>
          <a:bodyPr>
            <a:normAutofit/>
          </a:bodyPr>
          <a:lstStyle/>
          <a:p>
            <a:r>
              <a:rPr lang="fr-FR" dirty="0"/>
              <a:t>Introduction</a:t>
            </a:r>
            <a:br>
              <a:rPr lang="fr-FR" dirty="0"/>
            </a:br>
            <a:r>
              <a:rPr lang="fr-CM" sz="1800" i="1" dirty="0">
                <a:effectLst/>
              </a:rPr>
              <a:t>ERP Universel : Votre Solution Tout-en-Un"</a:t>
            </a:r>
            <a:endParaRPr lang="fr-FR" sz="1800" i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0B6DDA-6E4B-2147-BFD7-9163DF223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M" dirty="0"/>
              <a:t>Les entreprises ont besoin d'un système unique pour : </a:t>
            </a:r>
          </a:p>
          <a:p>
            <a:r>
              <a:rPr lang="fr-CM" dirty="0"/>
              <a:t>Gérer leurs finances, stocks et équipes  </a:t>
            </a:r>
          </a:p>
          <a:p>
            <a:r>
              <a:rPr lang="fr-CM" dirty="0"/>
              <a:t>S'adapter à leur secteur spécifique </a:t>
            </a:r>
          </a:p>
          <a:p>
            <a:r>
              <a:rPr lang="fr-CM" dirty="0"/>
              <a:t>Évoluer sans tout réinventer </a:t>
            </a:r>
            <a:endParaRPr lang="fr-FR" dirty="0"/>
          </a:p>
          <a:p>
            <a:pPr marL="0" indent="0">
              <a:buNone/>
            </a:pPr>
            <a:r>
              <a:rPr lang="fr-CM" dirty="0"/>
              <a:t>Notre ERP modulaire offre : </a:t>
            </a:r>
          </a:p>
          <a:p>
            <a:r>
              <a:rPr lang="fr-CM" b="1" dirty="0">
                <a:effectLst/>
              </a:rPr>
              <a:t>Un cœur commun</a:t>
            </a:r>
            <a:r>
              <a:rPr lang="fr-CM" dirty="0"/>
              <a:t> pour les fonctions de base </a:t>
            </a:r>
          </a:p>
          <a:p>
            <a:r>
              <a:rPr lang="fr-CM" b="1" dirty="0">
                <a:effectLst/>
              </a:rPr>
              <a:t>Des extensions métiers</a:t>
            </a:r>
            <a:r>
              <a:rPr lang="fr-CM" dirty="0"/>
              <a:t> pour chaque secteur </a:t>
            </a:r>
          </a:p>
          <a:p>
            <a:r>
              <a:rPr lang="fr-CM" b="1" dirty="0">
                <a:effectLst/>
              </a:rPr>
              <a:t>Une intégration fluide</a:t>
            </a:r>
            <a:r>
              <a:rPr lang="fr-CM" dirty="0"/>
              <a:t> entre tous les services</a:t>
            </a:r>
          </a:p>
        </p:txBody>
      </p:sp>
    </p:spTree>
    <p:extLst>
      <p:ext uri="{BB962C8B-B14F-4D97-AF65-F5344CB8AC3E}">
        <p14:creationId xmlns:p14="http://schemas.microsoft.com/office/powerpoint/2010/main" val="368450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F942FC-836E-4719-7A77-E13F7D69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Définition de l'ERP</a:t>
            </a: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EED851-FE1D-2B0A-7132-EA81C7D66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997375"/>
            <a:ext cx="9603275" cy="3250535"/>
          </a:xfrm>
        </p:spPr>
        <p:txBody>
          <a:bodyPr/>
          <a:lstStyle/>
          <a:p>
            <a:pPr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r>
              <a:rPr lang="fr-CM" sz="2400" dirty="0">
                <a:effectLst/>
              </a:rPr>
              <a:t>Système d'information intégré permettant :</a:t>
            </a:r>
          </a:p>
          <a:p>
            <a:pPr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CM" sz="2400" dirty="0">
                <a:effectLst/>
              </a:rPr>
              <a:t>La mutualisation des données</a:t>
            </a:r>
          </a:p>
          <a:p>
            <a:pPr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CM" sz="2400" dirty="0">
                <a:effectLst/>
              </a:rPr>
              <a:t>L'automatisation des flux transversaux</a:t>
            </a:r>
          </a:p>
          <a:p>
            <a:pPr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fr-CM" sz="2400" dirty="0">
                <a:effectLst/>
              </a:rPr>
              <a:t>Le pilotage global des ressources</a:t>
            </a:r>
          </a:p>
          <a:p>
            <a:pPr>
              <a:buNone/>
            </a:pPr>
            <a:br>
              <a:rPr lang="fr-CM" dirty="0"/>
            </a:br>
            <a:endParaRPr lang="fr-FR" dirty="0"/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B805AC1E-1293-4E2F-D9C0-4B996D46B5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95650" y="1898650"/>
            <a:ext cx="5600700" cy="30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A618A8DA-E541-759C-B1DF-561D4B41C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9511" y="3667539"/>
            <a:ext cx="5431735" cy="238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56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F79A4A-1FFE-5B98-9609-D72C3E8C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652791"/>
            <a:ext cx="9603275" cy="1049235"/>
          </a:xfrm>
        </p:spPr>
        <p:txBody>
          <a:bodyPr/>
          <a:lstStyle/>
          <a:p>
            <a:r>
              <a:rPr lang="fr-FR" b="1" dirty="0"/>
              <a:t>Logiciel utilise</a:t>
            </a: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7C998166-0702-BAFB-C6B0-CA28B0FAA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269284"/>
              </p:ext>
            </p:extLst>
          </p:nvPr>
        </p:nvGraphicFramePr>
        <p:xfrm>
          <a:off x="1451578" y="2030120"/>
          <a:ext cx="9849361" cy="3513993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2331624">
                  <a:extLst>
                    <a:ext uri="{9D8B030D-6E8A-4147-A177-3AD203B41FA5}">
                      <a16:colId xmlns:a16="http://schemas.microsoft.com/office/drawing/2014/main" val="727230567"/>
                    </a:ext>
                  </a:extLst>
                </a:gridCol>
                <a:gridCol w="2580847">
                  <a:extLst>
                    <a:ext uri="{9D8B030D-6E8A-4147-A177-3AD203B41FA5}">
                      <a16:colId xmlns:a16="http://schemas.microsoft.com/office/drawing/2014/main" val="2169190804"/>
                    </a:ext>
                  </a:extLst>
                </a:gridCol>
                <a:gridCol w="4936890">
                  <a:extLst>
                    <a:ext uri="{9D8B030D-6E8A-4147-A177-3AD203B41FA5}">
                      <a16:colId xmlns:a16="http://schemas.microsoft.com/office/drawing/2014/main" val="1778080092"/>
                    </a:ext>
                  </a:extLst>
                </a:gridCol>
              </a:tblGrid>
              <a:tr h="691313">
                <a:tc>
                  <a:txBody>
                    <a:bodyPr/>
                    <a:lstStyle/>
                    <a:p>
                      <a:r>
                        <a:rPr lang="fr-FR" sz="2000" b="1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Couche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2000" b="1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Technologie </a:t>
                      </a:r>
                      <a:endParaRPr lang="fr-CM" sz="20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endParaRPr lang="fr-FR" sz="20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2000" b="1" kern="120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Pourquoi </a:t>
                      </a:r>
                      <a:endParaRPr lang="fr-CM" sz="20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  <a:p>
                      <a:endParaRPr lang="fr-FR" sz="2000" b="1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947467"/>
                  </a:ext>
                </a:extLst>
              </a:tr>
              <a:tr h="691313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Frontend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React</a:t>
                      </a: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 + </a:t>
                      </a:r>
                      <a:r>
                        <a:rPr lang="fr-CM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Tailwind</a:t>
                      </a: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 CSS </a:t>
                      </a:r>
                      <a:endParaRPr lang="fr-CM" dirty="0"/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Composants modulaires, design rapide </a:t>
                      </a:r>
                      <a:endParaRPr lang="fr-CM" dirty="0"/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505794"/>
                  </a:ext>
                </a:extLst>
              </a:tr>
              <a:tr h="691313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Backend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Python/Django </a:t>
                      </a:r>
                      <a:endParaRPr lang="fr-CM" dirty="0"/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Django offre un admin intégré́ (gain de temps) </a:t>
                      </a:r>
                      <a:endParaRPr lang="fr-CM" dirty="0"/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2956699"/>
                  </a:ext>
                </a:extLst>
              </a:tr>
              <a:tr h="739014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Base de données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PostgreSQL</a:t>
                      </a:r>
                      <a:b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endParaRPr lang="fr-CM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Relationnel + JSON pour flexibilité́ </a:t>
                      </a:r>
                      <a:endParaRPr lang="fr-CM" dirty="0"/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125975"/>
                  </a:ext>
                </a:extLst>
              </a:tr>
              <a:tr h="691313">
                <a:tc>
                  <a:txBody>
                    <a:bodyPr/>
                    <a:lstStyle/>
                    <a:p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Authentification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Auth0 ou </a:t>
                      </a:r>
                      <a:r>
                        <a:rPr lang="fr-CM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Keycloak</a:t>
                      </a: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endParaRPr lang="fr-CM" dirty="0"/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800" kern="1200" dirty="0">
                          <a:solidFill>
                            <a:schemeClr val="dk1"/>
                          </a:solidFill>
                          <a:effectLst/>
                        </a:rPr>
                        <a:t>Sécurité́ prête à l'emploi </a:t>
                      </a:r>
                      <a:endParaRPr lang="fr-CM" dirty="0"/>
                    </a:p>
                    <a:p>
                      <a:endParaRPr lang="fr-FR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90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561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C80FFC-0C66-ACEF-991C-C1FE15594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Fonctions Fondamentales</a:t>
            </a:r>
            <a:br>
              <a:rPr lang="fr-CM" b="0" i="0" dirty="0">
                <a:solidFill>
                  <a:srgbClr val="404040"/>
                </a:solidFill>
                <a:effectLst/>
                <a:latin typeface="quote-cjk-patch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5F9C68-C748-68B2-4EA5-1DAB1BB81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piliers :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AA13CCD-B833-5496-47C6-42B41934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84" y="2015732"/>
            <a:ext cx="6341863" cy="400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2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4B85D-41FE-1F5A-71AB-18F5663B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Outils d'Analyse Fonctionnelle</a:t>
            </a:r>
            <a:br>
              <a:rPr lang="fr-CM" dirty="0"/>
            </a:b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E68FD7F-3FAC-C25F-C142-C6C12659CB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4632393"/>
              </p:ext>
            </p:extLst>
          </p:nvPr>
        </p:nvGraphicFramePr>
        <p:xfrm>
          <a:off x="1450975" y="2811303"/>
          <a:ext cx="9603275" cy="2643552"/>
        </p:xfrm>
        <a:graphic>
          <a:graphicData uri="http://schemas.openxmlformats.org/drawingml/2006/table">
            <a:tbl>
              <a:tblPr/>
              <a:tblGrid>
                <a:gridCol w="3163209">
                  <a:extLst>
                    <a:ext uri="{9D8B030D-6E8A-4147-A177-3AD203B41FA5}">
                      <a16:colId xmlns:a16="http://schemas.microsoft.com/office/drawing/2014/main" val="1050545086"/>
                    </a:ext>
                  </a:extLst>
                </a:gridCol>
                <a:gridCol w="3220033">
                  <a:extLst>
                    <a:ext uri="{9D8B030D-6E8A-4147-A177-3AD203B41FA5}">
                      <a16:colId xmlns:a16="http://schemas.microsoft.com/office/drawing/2014/main" val="2687710752"/>
                    </a:ext>
                  </a:extLst>
                </a:gridCol>
                <a:gridCol w="3220033">
                  <a:extLst>
                    <a:ext uri="{9D8B030D-6E8A-4147-A177-3AD203B41FA5}">
                      <a16:colId xmlns:a16="http://schemas.microsoft.com/office/drawing/2014/main" val="3593953213"/>
                    </a:ext>
                  </a:extLst>
                </a:gridCol>
              </a:tblGrid>
              <a:tr h="660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M" sz="2000" b="1" dirty="0">
                          <a:solidFill>
                            <a:srgbClr val="404040"/>
                          </a:solidFill>
                          <a:effectLst/>
                        </a:rPr>
                        <a:t>Outil</a:t>
                      </a: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M" sz="2000" b="1" dirty="0">
                          <a:solidFill>
                            <a:srgbClr val="404040"/>
                          </a:solidFill>
                          <a:effectLst/>
                        </a:rPr>
                        <a:t>Usage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M" sz="2000" b="1" dirty="0">
                          <a:solidFill>
                            <a:srgbClr val="404040"/>
                          </a:solidFill>
                          <a:effectLst/>
                        </a:rPr>
                        <a:t>Application à l'ERP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182425"/>
                  </a:ext>
                </a:extLst>
              </a:tr>
              <a:tr h="660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 dirty="0">
                          <a:effectLst/>
                        </a:rPr>
                        <a:t>SWOT</a:t>
                      </a:r>
                      <a:endParaRPr lang="fr-CM" dirty="0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dirty="0">
                          <a:effectLst/>
                        </a:rPr>
                        <a:t>Diagnostic stratégique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>
                          <a:effectLst/>
                        </a:rPr>
                        <a:t>Évaluation de la solution ERP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439354"/>
                  </a:ext>
                </a:extLst>
              </a:tr>
              <a:tr h="660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 dirty="0">
                          <a:effectLst/>
                        </a:rPr>
                        <a:t>FAST</a:t>
                      </a:r>
                      <a:endParaRPr lang="fr-CM" dirty="0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dirty="0">
                          <a:effectLst/>
                        </a:rPr>
                        <a:t>Hiérarchisation des fonctions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>
                          <a:effectLst/>
                        </a:rPr>
                        <a:t>Architecture technique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722359"/>
                  </a:ext>
                </a:extLst>
              </a:tr>
              <a:tr h="660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>
                          <a:effectLst/>
                        </a:rPr>
                        <a:t>SADT</a:t>
                      </a:r>
                      <a:endParaRPr lang="fr-CM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>
                          <a:effectLst/>
                        </a:rPr>
                        <a:t>Modélisation des processus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dirty="0">
                          <a:effectLst/>
                        </a:rPr>
                        <a:t>Flux inter-modules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5771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6661611-CE86-A85F-7FCF-0DB6B23D3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1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836A8-8023-28F1-3E94-DF47E702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Analyse SWOT</a:t>
            </a:r>
            <a:br>
              <a:rPr lang="fr-CM" b="0" i="0" dirty="0">
                <a:solidFill>
                  <a:srgbClr val="404040"/>
                </a:solidFill>
                <a:effectLst/>
                <a:latin typeface="quote-cjk-patch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D8E8E1-867D-8524-79B8-D07E1001E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53754"/>
            <a:ext cx="9603275" cy="3738663"/>
          </a:xfrm>
        </p:spPr>
        <p:txBody>
          <a:bodyPr/>
          <a:lstStyle/>
          <a:p>
            <a:r>
              <a:rPr lang="fr-CM" sz="2400" b="1" i="0" dirty="0">
                <a:solidFill>
                  <a:srgbClr val="404040"/>
                </a:solidFill>
                <a:effectLst/>
                <a:latin typeface="quote-cjk-patch"/>
              </a:rPr>
              <a:t>Diagramme structuré </a:t>
            </a:r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:</a:t>
            </a:r>
          </a:p>
          <a:p>
            <a:endParaRPr lang="fr-F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FBCFB1-E502-3154-7338-C14F25C33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5" y="2172385"/>
            <a:ext cx="748735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F843FBA5-28C3-6C51-D4D9-8CC581848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0733" y="2013069"/>
            <a:ext cx="10064963" cy="342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8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0C5791-8680-D03D-1DE3-93826826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Matrice </a:t>
            </a:r>
            <a:r>
              <a:rPr lang="fr-FR" dirty="0" err="1"/>
              <a:t>swot</a:t>
            </a:r>
            <a:r>
              <a:rPr lang="fr-FR" dirty="0"/>
              <a:t> 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B38C1846-2CDD-CD76-81CE-18D95E9D44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645863"/>
              </p:ext>
            </p:extLst>
          </p:nvPr>
        </p:nvGraphicFramePr>
        <p:xfrm>
          <a:off x="1450975" y="2252133"/>
          <a:ext cx="9604375" cy="3285062"/>
        </p:xfrm>
        <a:graphic>
          <a:graphicData uri="http://schemas.openxmlformats.org/drawingml/2006/table">
            <a:tbl>
              <a:tblPr/>
              <a:tblGrid>
                <a:gridCol w="3163571">
                  <a:extLst>
                    <a:ext uri="{9D8B030D-6E8A-4147-A177-3AD203B41FA5}">
                      <a16:colId xmlns:a16="http://schemas.microsoft.com/office/drawing/2014/main" val="2748551208"/>
                    </a:ext>
                  </a:extLst>
                </a:gridCol>
                <a:gridCol w="3220402">
                  <a:extLst>
                    <a:ext uri="{9D8B030D-6E8A-4147-A177-3AD203B41FA5}">
                      <a16:colId xmlns:a16="http://schemas.microsoft.com/office/drawing/2014/main" val="4133999635"/>
                    </a:ext>
                  </a:extLst>
                </a:gridCol>
                <a:gridCol w="3220402">
                  <a:extLst>
                    <a:ext uri="{9D8B030D-6E8A-4147-A177-3AD203B41FA5}">
                      <a16:colId xmlns:a16="http://schemas.microsoft.com/office/drawing/2014/main" val="516383502"/>
                    </a:ext>
                  </a:extLst>
                </a:gridCol>
              </a:tblGrid>
              <a:tr h="6128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fr-CM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M" b="1">
                          <a:solidFill>
                            <a:srgbClr val="404040"/>
                          </a:solidFill>
                          <a:effectLst/>
                        </a:rPr>
                        <a:t>POSITIF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CM" b="1">
                          <a:solidFill>
                            <a:srgbClr val="404040"/>
                          </a:solidFill>
                          <a:effectLst/>
                        </a:rPr>
                        <a:t>NÉGATIF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336181"/>
                  </a:ext>
                </a:extLst>
              </a:tr>
              <a:tr h="1336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 dirty="0">
                          <a:effectLst/>
                        </a:rPr>
                        <a:t>INTERNE</a:t>
                      </a:r>
                      <a:endParaRPr lang="fr-CM" dirty="0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>
                          <a:effectLst/>
                        </a:rPr>
                        <a:t>FORCES</a:t>
                      </a:r>
                      <a:br>
                        <a:rPr lang="fr-CM">
                          <a:effectLst/>
                        </a:rPr>
                      </a:br>
                      <a:r>
                        <a:rPr lang="fr-CM">
                          <a:effectLst/>
                        </a:rPr>
                        <a:t>- Modularité</a:t>
                      </a:r>
                      <a:br>
                        <a:rPr lang="fr-CM">
                          <a:effectLst/>
                        </a:rPr>
                      </a:br>
                      <a:r>
                        <a:rPr lang="fr-CM">
                          <a:effectLst/>
                        </a:rPr>
                        <a:t>- ROI rapide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>
                          <a:effectLst/>
                        </a:rPr>
                        <a:t>FAIBLESSES</a:t>
                      </a:r>
                      <a:br>
                        <a:rPr lang="fr-CM">
                          <a:effectLst/>
                        </a:rPr>
                      </a:br>
                      <a:r>
                        <a:rPr lang="fr-CM">
                          <a:effectLst/>
                        </a:rPr>
                        <a:t>- Courbe d'apprentissage</a:t>
                      </a:r>
                      <a:br>
                        <a:rPr lang="fr-CM">
                          <a:effectLst/>
                        </a:rPr>
                      </a:br>
                      <a:r>
                        <a:rPr lang="fr-CM">
                          <a:effectLst/>
                        </a:rPr>
                        <a:t>- Dépendance cloud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2774"/>
                  </a:ext>
                </a:extLst>
              </a:tr>
              <a:tr h="1336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>
                          <a:effectLst/>
                        </a:rPr>
                        <a:t>EXTERNE</a:t>
                      </a:r>
                      <a:endParaRPr lang="fr-CM">
                        <a:effectLst/>
                      </a:endParaRPr>
                    </a:p>
                  </a:txBody>
                  <a:tcPr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 dirty="0">
                          <a:effectLst/>
                        </a:rPr>
                        <a:t>OPPORTUNITÉS</a:t>
                      </a:r>
                      <a:br>
                        <a:rPr lang="fr-CM" dirty="0">
                          <a:effectLst/>
                        </a:rPr>
                      </a:br>
                      <a:r>
                        <a:rPr lang="fr-CM" dirty="0">
                          <a:effectLst/>
                        </a:rPr>
                        <a:t>- Croissance SaaS</a:t>
                      </a:r>
                      <a:br>
                        <a:rPr lang="fr-CM" dirty="0">
                          <a:effectLst/>
                        </a:rPr>
                      </a:br>
                      <a:r>
                        <a:rPr lang="fr-CM" dirty="0">
                          <a:effectLst/>
                        </a:rPr>
                        <a:t>- Nouveaux secteurs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 dirty="0">
                          <a:effectLst/>
                        </a:rPr>
                        <a:t>MENACES</a:t>
                      </a:r>
                      <a:br>
                        <a:rPr lang="fr-CM" dirty="0">
                          <a:effectLst/>
                        </a:rPr>
                      </a:br>
                      <a:r>
                        <a:rPr lang="fr-CM" dirty="0">
                          <a:effectLst/>
                        </a:rPr>
                        <a:t>- Concurrence</a:t>
                      </a:r>
                      <a:br>
                        <a:rPr lang="fr-CM" dirty="0">
                          <a:effectLst/>
                        </a:rPr>
                      </a:br>
                      <a:r>
                        <a:rPr lang="fr-CM" dirty="0">
                          <a:effectLst/>
                        </a:rPr>
                        <a:t>- Cyber-risques</a:t>
                      </a:r>
                    </a:p>
                  </a:txBody>
                  <a:tcPr marL="95250" marR="95250" marT="95250" marB="9525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614983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77EA713-A441-A7AB-7C09-E42C65C8D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85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7FAEF6-0930-2FED-3340-124A51A15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Modélisation FAST</a:t>
            </a:r>
            <a:br>
              <a:rPr lang="fr-CM" b="0" i="0" dirty="0">
                <a:solidFill>
                  <a:srgbClr val="404040"/>
                </a:solidFill>
                <a:effectLst/>
                <a:latin typeface="quote-cjk-patch"/>
              </a:rPr>
            </a:br>
            <a:r>
              <a:rPr lang="fr-CM" b="0" i="0" dirty="0">
                <a:solidFill>
                  <a:srgbClr val="404040"/>
                </a:solidFill>
                <a:effectLst/>
                <a:latin typeface="quote-cjk-patch"/>
              </a:rPr>
              <a:t>( </a:t>
            </a:r>
            <a:r>
              <a:rPr lang="fr-CM" b="1" i="0" dirty="0" err="1">
                <a:solidFill>
                  <a:srgbClr val="404040"/>
                </a:solidFill>
                <a:effectLst/>
                <a:latin typeface="quote-cjk-patch"/>
              </a:rPr>
              <a:t>Functional</a:t>
            </a:r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 </a:t>
            </a:r>
            <a:r>
              <a:rPr lang="fr-CM" b="1" i="0" dirty="0" err="1">
                <a:solidFill>
                  <a:srgbClr val="404040"/>
                </a:solidFill>
                <a:effectLst/>
                <a:latin typeface="quote-cjk-patch"/>
              </a:rPr>
              <a:t>Analysis</a:t>
            </a:r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 System Technique ) :</a:t>
            </a: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85A37633-78D1-A8C9-EBC7-EB6A11DBD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1579" y="1948070"/>
            <a:ext cx="8341778" cy="3221624"/>
          </a:xfrm>
        </p:spPr>
      </p:pic>
    </p:spTree>
    <p:extLst>
      <p:ext uri="{BB962C8B-B14F-4D97-AF65-F5344CB8AC3E}">
        <p14:creationId xmlns:p14="http://schemas.microsoft.com/office/powerpoint/2010/main" val="219006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27F5A4-CC57-2A25-A6FD-D36A94B9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Fonctions Clés (Diagramme FAST)</a:t>
            </a:r>
            <a:br>
              <a:rPr lang="fr-CM" dirty="0"/>
            </a:br>
            <a:endParaRPr lang="fr-FR" dirty="0"/>
          </a:p>
        </p:txBody>
      </p:sp>
      <p:pic>
        <p:nvPicPr>
          <p:cNvPr id="14" name="Espace réservé du contenu 13">
            <a:extLst>
              <a:ext uri="{FF2B5EF4-FFF2-40B4-BE49-F238E27FC236}">
                <a16:creationId xmlns:a16="http://schemas.microsoft.com/office/drawing/2014/main" id="{BC496BAE-E285-C635-6221-630BF5D33B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9112" y="2407444"/>
            <a:ext cx="6388100" cy="2667000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490DD9B-2BE5-6BD6-E518-C74491D34C05}"/>
              </a:ext>
            </a:extLst>
          </p:cNvPr>
          <p:cNvSpPr txBox="1"/>
          <p:nvPr/>
        </p:nvSpPr>
        <p:spPr>
          <a:xfrm>
            <a:off x="1451579" y="1951672"/>
            <a:ext cx="31242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M" b="1" dirty="0"/>
              <a:t>Fonctions Transversales</a:t>
            </a:r>
            <a:r>
              <a:rPr lang="fr-CM" dirty="0"/>
              <a:t> 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M" dirty="0"/>
              <a:t>Authentification SSO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M" dirty="0"/>
              <a:t>Gestion des droits par profil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M" dirty="0"/>
              <a:t>Connecteurs API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985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9F59F2-9864-15BF-E1E2-77A6885A2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dirty="0"/>
              <a:t>Utilité Multi-Secteurs</a:t>
            </a:r>
            <a:br>
              <a:rPr lang="fr-CM" dirty="0"/>
            </a:br>
            <a:endParaRPr lang="fr-FR" dirty="0"/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2A5F8D39-8CAF-55CC-D517-6BFBED93AE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0355939"/>
              </p:ext>
            </p:extLst>
          </p:nvPr>
        </p:nvGraphicFramePr>
        <p:xfrm>
          <a:off x="1293813" y="2395428"/>
          <a:ext cx="9604374" cy="2067144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885328606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869720395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2959532067"/>
                    </a:ext>
                  </a:extLst>
                </a:gridCol>
              </a:tblGrid>
              <a:tr h="516786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Secteur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Modules </a:t>
                      </a:r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Specifiques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Paramétrage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92203315"/>
                  </a:ext>
                </a:extLst>
              </a:tr>
              <a:tr h="516786">
                <a:tc>
                  <a:txBody>
                    <a:bodyPr/>
                    <a:lstStyle/>
                    <a:p>
                      <a:r>
                        <a:rPr lang="fr-FR" dirty="0"/>
                        <a:t>Industrie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PLM,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Arborescences produites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308656"/>
                  </a:ext>
                </a:extLst>
              </a:tr>
              <a:tr h="516786">
                <a:tc>
                  <a:txBody>
                    <a:bodyPr/>
                    <a:lstStyle/>
                    <a:p>
                      <a:r>
                        <a:rPr lang="fr-FR" dirty="0"/>
                        <a:t>Santé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patient,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RGPD médical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16116"/>
                  </a:ext>
                </a:extLst>
              </a:tr>
              <a:tr h="516786">
                <a:tc>
                  <a:txBody>
                    <a:bodyPr/>
                    <a:lstStyle/>
                    <a:p>
                      <a:r>
                        <a:rPr lang="fr-FR" dirty="0"/>
                        <a:t>Services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Facturation récurrente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Taux horaire personnalisé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640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159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B51C2-7441-51E1-E61D-3C8035C6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Modélisation SADT</a:t>
            </a:r>
            <a:br>
              <a:rPr lang="fr-CM" b="0" i="0" dirty="0">
                <a:solidFill>
                  <a:srgbClr val="404040"/>
                </a:solidFill>
                <a:effectLst/>
                <a:latin typeface="quote-cjk-patch"/>
              </a:rPr>
            </a:br>
            <a:endParaRPr lang="fr-FR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29A7309-31BF-2B9F-5501-FC5D98C05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9312" y="2166144"/>
            <a:ext cx="5727700" cy="3149600"/>
          </a:xfrm>
        </p:spPr>
      </p:pic>
    </p:spTree>
    <p:extLst>
      <p:ext uri="{BB962C8B-B14F-4D97-AF65-F5344CB8AC3E}">
        <p14:creationId xmlns:p14="http://schemas.microsoft.com/office/powerpoint/2010/main" val="141624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F45AA-9521-1D3F-F9F9-337B5D63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Architecture Modulaire</a:t>
            </a:r>
            <a:br>
              <a:rPr lang="fr-CM" b="0" i="0" dirty="0">
                <a:solidFill>
                  <a:srgbClr val="404040"/>
                </a:solidFill>
                <a:effectLst/>
                <a:latin typeface="quote-cjk-patch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ED0051-AF0E-3202-0E4A-A9D124F2D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M" sz="2400" b="1" i="0" dirty="0">
                <a:solidFill>
                  <a:srgbClr val="404040"/>
                </a:solidFill>
                <a:effectLst/>
                <a:latin typeface="quote-cjk-patch"/>
              </a:rPr>
              <a:t>Schéma noyau + extensions :</a:t>
            </a:r>
          </a:p>
          <a:p>
            <a:endParaRPr lang="fr-FR" sz="2400" dirty="0"/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CED02DA-3D46-85BD-AEF3-1192A66AA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0930" y="2015732"/>
            <a:ext cx="6547756" cy="361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26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81C67-5CE0-0F77-C6BD-AB875541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203CBE-9A63-66CE-2134-60C86B956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85000" lnSpcReduction="10000"/>
          </a:bodyPr>
          <a:lstStyle/>
          <a:p>
            <a:pPr marL="0" indent="0">
              <a:buNone/>
            </a:pPr>
            <a:r>
              <a:rPr lang="fr-CM" b="1" dirty="0">
                <a:effectLst/>
              </a:rPr>
              <a:t>Le résultat :</a:t>
            </a:r>
            <a:endParaRPr lang="fr-CM" b="1" dirty="0">
              <a:solidFill>
                <a:srgbClr val="383A42"/>
              </a:solidFill>
              <a:effectLst/>
            </a:endParaRPr>
          </a:p>
          <a:p>
            <a:r>
              <a:rPr lang="fr-CM" b="1" dirty="0">
                <a:effectLst/>
              </a:rPr>
              <a:t>Cœur universel</a:t>
            </a:r>
            <a:r>
              <a:rPr lang="fr-CM" b="1" dirty="0">
                <a:solidFill>
                  <a:srgbClr val="383A42"/>
                </a:solidFill>
              </a:rPr>
              <a:t> </a:t>
            </a:r>
            <a:r>
              <a:rPr lang="fr-CM" dirty="0"/>
              <a:t>: Gestion unifiée (finances, RH, stocks) </a:t>
            </a:r>
          </a:p>
          <a:p>
            <a:r>
              <a:rPr lang="fr-CM" b="1" dirty="0">
                <a:effectLst/>
              </a:rPr>
              <a:t>Facettes métiers</a:t>
            </a:r>
            <a:r>
              <a:rPr lang="fr-CM" dirty="0"/>
              <a:t> : Modules spécialisés par secteur </a:t>
            </a:r>
            <a:endParaRPr lang="fr-CM" dirty="0">
              <a:solidFill>
                <a:srgbClr val="383A42"/>
              </a:solidFill>
            </a:endParaRPr>
          </a:p>
          <a:p>
            <a:r>
              <a:rPr lang="fr-CM" b="1" dirty="0">
                <a:effectLst/>
              </a:rPr>
              <a:t>Éclat durable</a:t>
            </a:r>
            <a:r>
              <a:rPr lang="fr-CM" dirty="0"/>
              <a:t> : Évolue avec vos besoins </a:t>
            </a:r>
          </a:p>
          <a:p>
            <a:r>
              <a:rPr lang="fr-CM" b="1" dirty="0">
                <a:effectLst/>
              </a:rPr>
              <a:t>Standardisation</a:t>
            </a:r>
            <a:r>
              <a:rPr lang="fr-CM" dirty="0"/>
              <a:t> : 80% de fonctions communes </a:t>
            </a:r>
          </a:p>
          <a:p>
            <a:r>
              <a:rPr lang="fr-CM" b="1" dirty="0">
                <a:effectLst/>
              </a:rPr>
              <a:t>Flexibilité</a:t>
            </a:r>
            <a:r>
              <a:rPr lang="fr-CM" dirty="0"/>
              <a:t> : Modules sectoriels configurables </a:t>
            </a:r>
          </a:p>
          <a:p>
            <a:r>
              <a:rPr lang="fr-CM" b="1" dirty="0">
                <a:effectLst/>
              </a:rPr>
              <a:t>Évolutivité</a:t>
            </a:r>
            <a:r>
              <a:rPr lang="fr-CM" dirty="0"/>
              <a:t> : Architecture orientée API </a:t>
            </a:r>
            <a:br>
              <a:rPr lang="fr-CM" dirty="0"/>
            </a:br>
            <a:endParaRPr lang="fr-CM" dirty="0"/>
          </a:p>
          <a:p>
            <a:pPr marL="914400" lvl="2" indent="0" algn="r">
              <a:buNone/>
            </a:pPr>
            <a:r>
              <a:rPr lang="fr-CM" dirty="0"/>
              <a:t>"Nous fournissons les outils - vous créez VOTRE système idéal."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613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D0FDD-7202-435D-478D-1B9483C7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M" b="1" i="0" dirty="0">
                <a:solidFill>
                  <a:srgbClr val="404040"/>
                </a:solidFill>
                <a:effectLst/>
                <a:latin typeface="quote-cjk-patch"/>
              </a:rPr>
              <a:t>Conclusion</a:t>
            </a:r>
            <a:br>
              <a:rPr lang="fr-CM" b="0" i="0" dirty="0">
                <a:solidFill>
                  <a:srgbClr val="404040"/>
                </a:solidFill>
                <a:effectLst/>
                <a:latin typeface="quote-cjk-patch"/>
              </a:rPr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673B35-99A5-7E31-8A95-2A342A4F0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M" sz="2400" b="1" i="0" dirty="0">
                <a:solidFill>
                  <a:srgbClr val="404040"/>
                </a:solidFill>
                <a:effectLst/>
                <a:latin typeface="quote-cjk-patch"/>
              </a:rPr>
              <a:t>Synthèse des avantages :</a:t>
            </a:r>
          </a:p>
          <a:p>
            <a:endParaRPr lang="fr-FR" sz="2400" dirty="0"/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FA81D047-9904-31B9-C8DF-A755E4AB7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1579" y="2593571"/>
            <a:ext cx="8972581" cy="274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4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072257-9126-436F-B972-ECF08C97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13400" dirty="0"/>
              <a:t>Merci !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197379-8DA8-D5FC-F25E-B0802194EE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76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glitter pattern="hexagon"/>
      </p:transition>
    </mc:Choice>
    <mc:Fallback xmlns="">
      <p:transition spd="slow" advTm="12000">
        <p:fade/>
      </p:transition>
    </mc:Fallback>
  </mc:AlternateContent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{13644ADE-8EAD-B34B-9259-88BAA30DEE03}tf10001119</Template>
  <TotalTime>3143</TotalTime>
  <Words>392</Words>
  <Application>Microsoft Macintosh PowerPoint</Application>
  <PresentationFormat>Grand écran</PresentationFormat>
  <Paragraphs>108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Gill Sans MT</vt:lpstr>
      <vt:lpstr>quote-cjk-patch</vt:lpstr>
      <vt:lpstr>Galerie</vt:lpstr>
      <vt:lpstr>L'ERP Universel : Analyse Fonctionnelle</vt:lpstr>
      <vt:lpstr>Feuille de Route de Présentation</vt:lpstr>
      <vt:lpstr>Introduction ERP Universel : Votre Solution Tout-en-Un"</vt:lpstr>
      <vt:lpstr>Définition de l'ERP</vt:lpstr>
      <vt:lpstr>Logiciel utilise</vt:lpstr>
      <vt:lpstr>Fonctions Fondamentales </vt:lpstr>
      <vt:lpstr>Outils d'Analyse Fonctionnelle </vt:lpstr>
      <vt:lpstr>Analyse SWOT </vt:lpstr>
      <vt:lpstr>Matrice swot </vt:lpstr>
      <vt:lpstr>Modélisation FAST ( Functional Analysis System Technique ) :</vt:lpstr>
      <vt:lpstr>Fonctions Clés (Diagramme FAST) </vt:lpstr>
      <vt:lpstr>Utilité Multi-Secteurs </vt:lpstr>
      <vt:lpstr>Modélisation SADT </vt:lpstr>
      <vt:lpstr>Architecture Modulaire </vt:lpstr>
      <vt:lpstr>conclusion</vt:lpstr>
      <vt:lpstr>Conclusion 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</dc:creator>
  <cp:lastModifiedBy>Mac</cp:lastModifiedBy>
  <cp:revision>5</cp:revision>
  <dcterms:created xsi:type="dcterms:W3CDTF">2025-07-18T08:32:41Z</dcterms:created>
  <dcterms:modified xsi:type="dcterms:W3CDTF">2025-07-22T13:40:48Z</dcterms:modified>
</cp:coreProperties>
</file>